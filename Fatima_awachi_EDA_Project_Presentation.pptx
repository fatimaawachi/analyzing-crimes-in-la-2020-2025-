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7990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I'll be presenting my exploratory data analysis project on crime patterns in Los Angeles between 2020 and 2025. My name is Fatima Awachi, and this project was completed as part of the General Assembly Data Science Bootcamp.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Crime affects public safety and community decision-making every day. In this project I looked at LAPD crime reports from 2020 to 2025, with over a million incidents across 21 areas, and it was hard to know which areas, times, and crime types needed the most attention. My objectives were to find the most common crime types, the highest-crime areas, yearly trends, peak times of day, and the top crimes within the highest-crime area.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quick look at the dataset. It contains just over one million crime records with ten variables, covering Los Angeles from 2020 through 2025. Importantly, there were no missing values and no duplicate records, so the data was clean and ready to analyze.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top ten reported crime types in Los Angeles. Vehicle theft clearly stands out at the top of the list, followed by battery simple assault and burglary from vehicle.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key finding here: Vehicle Theft was the most frequently reported crime, followed by Battery Simple Assault and Burglary from Vehicle. This tells us vehicle-related crime is a major issue across the city.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 looked at which areas recorded the most crime. This chart ranks the top ten areas by number of reported incidents.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 recorded the highest number of crime incidents, followed by 77th Street and Pacific. These three areas clearly need more attention than the rest.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on to trends over time, this line chart shows how crime incidents changed year by year from 2020 to 2025.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Crime incidents increased steadily until 2022, which recorded the highest number of reports, and then declined, with a sharp drop in 2024 and 2025. That's because the dataset only includes a small portion of recent records, not full years.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wanted to know when crimes happen most often during the day, so I grouped incidents into morning, afternoon, evening, and night.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crimes were reported during the night, followed by the afternoon, while morning had the fewest incidents. This suggests law enforcement resources could be shifted toward nighttime hours.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since Central had the highest crime rate, I dug deeper into that area specifically to see which crime types were most common there.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Burglary from vehicle was the most common crime in Central, and overall, vehicle-related and theft-related crimes dominated the list in this area.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I analyzed over one million crime incidents. Vehicle theft was the most common crime overall, Central had the highest crime rate, crime peaked in 2022, most incidents happened at night, and vehicle-related crime was especially common in Central.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these findings, I have four recommendations: increase police patrols in Central, improve vehicle theft prevention programs, increase police presence during nighttime hours, and continue monitoring yearly crime trends going forward.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project showed how exploratory data analysis can uncover meaningful crime patterns and support better public safety planning. Data-driven decisions like these can help allocate resources more effectively and improve crime prevention across Los Angeles. Thank you!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txBody>
          <a:bodyPr/>
          <a:lstStyle/>
          <a:p>
            <a:endParaRPr lang="en-BH"/>
          </a:p>
        </p:txBody>
      </p:sp>
      <p:sp>
        <p:nvSpPr>
          <p:cNvPr id="3" name="Shape 1"/>
          <p:cNvSpPr/>
          <p:nvPr/>
        </p:nvSpPr>
        <p:spPr>
          <a:xfrm>
            <a:off x="0" y="2880360"/>
            <a:ext cx="12188952" cy="27432"/>
          </a:xfrm>
          <a:prstGeom prst="rect">
            <a:avLst/>
          </a:prstGeom>
          <a:solidFill>
            <a:srgbClr val="8B0000"/>
          </a:solidFill>
          <a:ln/>
        </p:spPr>
        <p:txBody>
          <a:bodyPr/>
          <a:lstStyle/>
          <a:p>
            <a:endParaRPr lang="en-BH"/>
          </a:p>
        </p:txBody>
      </p:sp>
      <p:sp>
        <p:nvSpPr>
          <p:cNvPr id="4" name="Text 2"/>
          <p:cNvSpPr/>
          <p:nvPr/>
        </p:nvSpPr>
        <p:spPr>
          <a:xfrm>
            <a:off x="822960" y="2148840"/>
            <a:ext cx="10543032" cy="685800"/>
          </a:xfrm>
          <a:prstGeom prst="rect">
            <a:avLst/>
          </a:prstGeom>
          <a:noFill/>
          <a:ln/>
        </p:spPr>
        <p:txBody>
          <a:bodyPr wrap="square" rtlCol="0" anchor="ctr"/>
          <a:lstStyle/>
          <a:p>
            <a:pPr marL="0" indent="0" algn="l">
              <a:buNone/>
            </a:pPr>
            <a:r>
              <a:rPr lang="en-US" sz="4000" b="1" dirty="0">
                <a:solidFill>
                  <a:srgbClr val="1A1A1A"/>
                </a:solidFill>
                <a:latin typeface="Cambria" pitchFamily="34" charset="0"/>
                <a:ea typeface="Cambria" pitchFamily="34" charset="-122"/>
                <a:cs typeface="Cambria" pitchFamily="34" charset="-120"/>
              </a:rPr>
              <a:t>CRIME ANALYSIS IN LOS ANGELES</a:t>
            </a:r>
            <a:endParaRPr lang="en-US" sz="4000" dirty="0"/>
          </a:p>
        </p:txBody>
      </p:sp>
      <p:sp>
        <p:nvSpPr>
          <p:cNvPr id="5" name="Text 3"/>
          <p:cNvSpPr/>
          <p:nvPr/>
        </p:nvSpPr>
        <p:spPr>
          <a:xfrm>
            <a:off x="822960" y="3063240"/>
            <a:ext cx="10543032" cy="502920"/>
          </a:xfrm>
          <a:prstGeom prst="rect">
            <a:avLst/>
          </a:prstGeom>
          <a:noFill/>
          <a:ln/>
        </p:spPr>
        <p:txBody>
          <a:bodyPr wrap="square" rtlCol="0" anchor="ctr"/>
          <a:lstStyle/>
          <a:p>
            <a:pPr marL="0" indent="0" algn="l">
              <a:buNone/>
            </a:pPr>
            <a:r>
              <a:rPr lang="en-US" sz="2400" i="1" dirty="0">
                <a:solidFill>
                  <a:srgbClr val="8B0000"/>
                </a:solidFill>
                <a:latin typeface="Cambria" pitchFamily="34" charset="0"/>
                <a:ea typeface="Cambria" pitchFamily="34" charset="-122"/>
                <a:cs typeface="Cambria" pitchFamily="34" charset="-120"/>
              </a:rPr>
              <a:t>2020 – 2025</a:t>
            </a:r>
            <a:endParaRPr lang="en-US" sz="2400" dirty="0"/>
          </a:p>
        </p:txBody>
      </p:sp>
      <p:sp>
        <p:nvSpPr>
          <p:cNvPr id="6" name="Text 4"/>
          <p:cNvSpPr/>
          <p:nvPr/>
        </p:nvSpPr>
        <p:spPr>
          <a:xfrm>
            <a:off x="822960" y="5394960"/>
            <a:ext cx="7315200" cy="365760"/>
          </a:xfrm>
          <a:prstGeom prst="rect">
            <a:avLst/>
          </a:prstGeom>
          <a:noFill/>
          <a:ln/>
        </p:spPr>
        <p:txBody>
          <a:bodyPr wrap="square"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Fatima Awachi</a:t>
            </a:r>
            <a:endParaRPr lang="en-US" sz="1600" dirty="0"/>
          </a:p>
        </p:txBody>
      </p:sp>
      <p:sp>
        <p:nvSpPr>
          <p:cNvPr id="7" name="Text 5"/>
          <p:cNvSpPr/>
          <p:nvPr/>
        </p:nvSpPr>
        <p:spPr>
          <a:xfrm>
            <a:off x="822960" y="5742432"/>
            <a:ext cx="7315200" cy="365760"/>
          </a:xfrm>
          <a:prstGeom prst="rect">
            <a:avLst/>
          </a:prstGeom>
          <a:noFill/>
          <a:ln/>
        </p:spPr>
        <p:txBody>
          <a:bodyPr wrap="square" rtlCol="0" anchor="ctr"/>
          <a:lstStyle/>
          <a:p>
            <a:pPr marL="0" indent="0">
              <a:buNone/>
            </a:pPr>
            <a:r>
              <a:rPr lang="en-US" sz="1300" dirty="0">
                <a:solidFill>
                  <a:srgbClr val="5A5A5A"/>
                </a:solidFill>
                <a:latin typeface="Calibri" pitchFamily="34" charset="0"/>
                <a:ea typeface="Calibri" pitchFamily="34" charset="-122"/>
                <a:cs typeface="Calibri" pitchFamily="34" charset="-120"/>
              </a:rPr>
              <a:t>General Assembly — Data Science Bootcamp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Introduction &amp; Objectives</a:t>
            </a:r>
            <a:endParaRPr lang="en-US" sz="3200" dirty="0"/>
          </a:p>
        </p:txBody>
      </p:sp>
      <p:sp>
        <p:nvSpPr>
          <p:cNvPr id="3" name="Shape 1"/>
          <p:cNvSpPr/>
          <p:nvPr/>
        </p:nvSpPr>
        <p:spPr>
          <a:xfrm>
            <a:off x="640080" y="1371600"/>
            <a:ext cx="5349240" cy="4846320"/>
          </a:xfrm>
          <a:prstGeom prst="rect">
            <a:avLst/>
          </a:prstGeom>
          <a:solidFill>
            <a:srgbClr val="F4F4F4"/>
          </a:solidFill>
          <a:ln/>
        </p:spPr>
        <p:txBody>
          <a:bodyPr/>
          <a:lstStyle/>
          <a:p>
            <a:endParaRPr lang="en-BH"/>
          </a:p>
        </p:txBody>
      </p:sp>
      <p:sp>
        <p:nvSpPr>
          <p:cNvPr id="4" name="Text 2"/>
          <p:cNvSpPr/>
          <p:nvPr/>
        </p:nvSpPr>
        <p:spPr>
          <a:xfrm>
            <a:off x="914400" y="1600200"/>
            <a:ext cx="4846320" cy="365760"/>
          </a:xfrm>
          <a:prstGeom prst="rect">
            <a:avLst/>
          </a:prstGeom>
          <a:noFill/>
          <a:ln/>
        </p:spPr>
        <p:txBody>
          <a:bodyPr wrap="square" rtlCol="0" anchor="ctr"/>
          <a:lstStyle/>
          <a:p>
            <a:pPr marL="0" indent="0">
              <a:buNone/>
            </a:pPr>
            <a:r>
              <a:rPr lang="en-US" sz="1800" b="1" dirty="0">
                <a:solidFill>
                  <a:srgbClr val="8B0000"/>
                </a:solidFill>
                <a:latin typeface="Cambria" pitchFamily="34" charset="0"/>
                <a:ea typeface="Cambria" pitchFamily="34" charset="-122"/>
                <a:cs typeface="Cambria" pitchFamily="34" charset="-120"/>
              </a:rPr>
              <a:t>Introduction</a:t>
            </a:r>
            <a:endParaRPr lang="en-US" sz="1800" dirty="0"/>
          </a:p>
        </p:txBody>
      </p:sp>
      <p:sp>
        <p:nvSpPr>
          <p:cNvPr id="5" name="Text 3"/>
          <p:cNvSpPr/>
          <p:nvPr/>
        </p:nvSpPr>
        <p:spPr>
          <a:xfrm>
            <a:off x="914400" y="2011680"/>
            <a:ext cx="4846320" cy="1371600"/>
          </a:xfrm>
          <a:prstGeom prst="rect">
            <a:avLst/>
          </a:prstGeom>
          <a:noFill/>
          <a:ln/>
        </p:spPr>
        <p:txBody>
          <a:bodyPr wrap="square" rtlCol="0" anchor="t"/>
          <a:lstStyle/>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Crime affects public safety and community decisions every day</a:t>
            </a:r>
            <a:endParaRPr lang="en-US" sz="1400" dirty="0"/>
          </a:p>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This project analyzes LAPD crime incidents from 2020–2025</a:t>
            </a:r>
            <a:endParaRPr lang="en-US" sz="1400" dirty="0"/>
          </a:p>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Goal: uncover patterns that support public safety decisions</a:t>
            </a:r>
            <a:endParaRPr lang="en-US" sz="1400" dirty="0"/>
          </a:p>
        </p:txBody>
      </p:sp>
      <p:sp>
        <p:nvSpPr>
          <p:cNvPr id="6" name="Text 4"/>
          <p:cNvSpPr/>
          <p:nvPr/>
        </p:nvSpPr>
        <p:spPr>
          <a:xfrm>
            <a:off x="914400" y="3520440"/>
            <a:ext cx="4846320" cy="365760"/>
          </a:xfrm>
          <a:prstGeom prst="rect">
            <a:avLst/>
          </a:prstGeom>
          <a:noFill/>
          <a:ln/>
        </p:spPr>
        <p:txBody>
          <a:bodyPr wrap="square" rtlCol="0" anchor="ctr"/>
          <a:lstStyle/>
          <a:p>
            <a:pPr marL="0" indent="0">
              <a:buNone/>
            </a:pPr>
            <a:r>
              <a:rPr lang="en-US" sz="1800" b="1" dirty="0">
                <a:solidFill>
                  <a:srgbClr val="8B0000"/>
                </a:solidFill>
                <a:latin typeface="Cambria" pitchFamily="34" charset="0"/>
                <a:ea typeface="Cambria" pitchFamily="34" charset="-122"/>
                <a:cs typeface="Cambria" pitchFamily="34" charset="-120"/>
              </a:rPr>
              <a:t>Problem Statement</a:t>
            </a:r>
            <a:endParaRPr lang="en-US" sz="1800" dirty="0"/>
          </a:p>
        </p:txBody>
      </p:sp>
      <p:sp>
        <p:nvSpPr>
          <p:cNvPr id="7" name="Text 5"/>
          <p:cNvSpPr/>
          <p:nvPr/>
        </p:nvSpPr>
        <p:spPr>
          <a:xfrm>
            <a:off x="914400" y="3931920"/>
            <a:ext cx="4846320" cy="1828800"/>
          </a:xfrm>
          <a:prstGeom prst="rect">
            <a:avLst/>
          </a:prstGeom>
          <a:noFill/>
          <a:ln/>
        </p:spPr>
        <p:txBody>
          <a:bodyPr wrap="square" rtlCol="0" anchor="t"/>
          <a:lstStyle/>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1M+ crime incidents reported across 21 LA areas (2020–2025)</a:t>
            </a:r>
            <a:endParaRPr lang="en-US" sz="1400" dirty="0"/>
          </a:p>
          <a:p>
            <a:pPr marL="342900" indent="-3429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Hard to identify which areas, times &amp; crime types need attention</a:t>
            </a:r>
            <a:endParaRPr lang="en-US" sz="1400" dirty="0"/>
          </a:p>
        </p:txBody>
      </p:sp>
      <p:sp>
        <p:nvSpPr>
          <p:cNvPr id="8" name="Shape 6"/>
          <p:cNvSpPr/>
          <p:nvPr/>
        </p:nvSpPr>
        <p:spPr>
          <a:xfrm>
            <a:off x="6199632" y="1371600"/>
            <a:ext cx="5349240" cy="4846320"/>
          </a:xfrm>
          <a:prstGeom prst="rect">
            <a:avLst/>
          </a:prstGeom>
          <a:solidFill>
            <a:srgbClr val="F4F4F4"/>
          </a:solidFill>
          <a:ln/>
        </p:spPr>
        <p:txBody>
          <a:bodyPr/>
          <a:lstStyle/>
          <a:p>
            <a:endParaRPr lang="en-BH"/>
          </a:p>
        </p:txBody>
      </p:sp>
      <p:sp>
        <p:nvSpPr>
          <p:cNvPr id="9" name="Text 7"/>
          <p:cNvSpPr/>
          <p:nvPr/>
        </p:nvSpPr>
        <p:spPr>
          <a:xfrm>
            <a:off x="6473952" y="1600200"/>
            <a:ext cx="4846320" cy="365760"/>
          </a:xfrm>
          <a:prstGeom prst="rect">
            <a:avLst/>
          </a:prstGeom>
          <a:noFill/>
          <a:ln/>
        </p:spPr>
        <p:txBody>
          <a:bodyPr wrap="square" rtlCol="0" anchor="ctr"/>
          <a:lstStyle/>
          <a:p>
            <a:pPr marL="0" indent="0">
              <a:buNone/>
            </a:pPr>
            <a:r>
              <a:rPr lang="en-US" sz="1800" b="1" dirty="0">
                <a:solidFill>
                  <a:srgbClr val="8B0000"/>
                </a:solidFill>
                <a:latin typeface="Cambria" pitchFamily="34" charset="0"/>
                <a:ea typeface="Cambria" pitchFamily="34" charset="-122"/>
                <a:cs typeface="Cambria" pitchFamily="34" charset="-120"/>
              </a:rPr>
              <a:t>Objectives</a:t>
            </a:r>
            <a:endParaRPr lang="en-US" sz="1800" dirty="0"/>
          </a:p>
        </p:txBody>
      </p:sp>
      <p:sp>
        <p:nvSpPr>
          <p:cNvPr id="10" name="Text 8"/>
          <p:cNvSpPr/>
          <p:nvPr/>
        </p:nvSpPr>
        <p:spPr>
          <a:xfrm>
            <a:off x="6473952" y="2057400"/>
            <a:ext cx="4846320" cy="3200400"/>
          </a:xfrm>
          <a:prstGeom prst="rect">
            <a:avLst/>
          </a:prstGeom>
          <a:noFill/>
          <a:ln/>
        </p:spPr>
        <p:txBody>
          <a:bodyPr wrap="square" rtlCol="0" anchor="t"/>
          <a:lstStyle/>
          <a:p>
            <a:pPr marL="342900" indent="-342900">
              <a:spcAft>
                <a:spcPts val="1400"/>
              </a:spcAft>
              <a:buSzPct val="100000"/>
              <a:buChar char="•"/>
            </a:pPr>
            <a:r>
              <a:rPr lang="en-US" sz="1400" dirty="0">
                <a:solidFill>
                  <a:srgbClr val="1A1A1A"/>
                </a:solidFill>
                <a:latin typeface="Calibri" pitchFamily="34" charset="0"/>
                <a:ea typeface="Calibri" pitchFamily="34" charset="-122"/>
                <a:cs typeface="Calibri" pitchFamily="34" charset="-120"/>
              </a:rPr>
              <a:t>Identify the most common crime types</a:t>
            </a:r>
            <a:endParaRPr lang="en-US" sz="1400" dirty="0"/>
          </a:p>
          <a:p>
            <a:pPr marL="342900" indent="-342900">
              <a:spcAft>
                <a:spcPts val="1400"/>
              </a:spcAft>
              <a:buSzPct val="100000"/>
              <a:buChar char="•"/>
            </a:pPr>
            <a:r>
              <a:rPr lang="en-US" sz="1400" dirty="0">
                <a:solidFill>
                  <a:srgbClr val="1A1A1A"/>
                </a:solidFill>
                <a:latin typeface="Calibri" pitchFamily="34" charset="0"/>
                <a:ea typeface="Calibri" pitchFamily="34" charset="-122"/>
                <a:cs typeface="Calibri" pitchFamily="34" charset="-120"/>
              </a:rPr>
              <a:t>Determine which areas record the most crime</a:t>
            </a:r>
            <a:endParaRPr lang="en-US" sz="1400" dirty="0"/>
          </a:p>
          <a:p>
            <a:pPr marL="342900" indent="-342900">
              <a:spcAft>
                <a:spcPts val="1400"/>
              </a:spcAft>
              <a:buSzPct val="100000"/>
              <a:buChar char="•"/>
            </a:pPr>
            <a:r>
              <a:rPr lang="en-US" sz="1400" dirty="0">
                <a:solidFill>
                  <a:srgbClr val="1A1A1A"/>
                </a:solidFill>
                <a:latin typeface="Calibri" pitchFamily="34" charset="0"/>
                <a:ea typeface="Calibri" pitchFamily="34" charset="-122"/>
                <a:cs typeface="Calibri" pitchFamily="34" charset="-120"/>
              </a:rPr>
              <a:t>Analyze yearly crime trends</a:t>
            </a:r>
            <a:endParaRPr lang="en-US" sz="1400" dirty="0"/>
          </a:p>
          <a:p>
            <a:pPr marL="342900" indent="-342900">
              <a:spcAft>
                <a:spcPts val="1400"/>
              </a:spcAft>
              <a:buSzPct val="100000"/>
              <a:buChar char="•"/>
            </a:pPr>
            <a:r>
              <a:rPr lang="en-US" sz="1400" dirty="0">
                <a:solidFill>
                  <a:srgbClr val="1A1A1A"/>
                </a:solidFill>
                <a:latin typeface="Calibri" pitchFamily="34" charset="0"/>
                <a:ea typeface="Calibri" pitchFamily="34" charset="-122"/>
                <a:cs typeface="Calibri" pitchFamily="34" charset="-120"/>
              </a:rPr>
              <a:t>Identify peak times of day for crime</a:t>
            </a:r>
            <a:endParaRPr lang="en-US" sz="1400" dirty="0"/>
          </a:p>
          <a:p>
            <a:pPr marL="342900" indent="-342900">
              <a:spcAft>
                <a:spcPts val="1400"/>
              </a:spcAft>
              <a:buSzPct val="100000"/>
              <a:buChar char="•"/>
            </a:pPr>
            <a:r>
              <a:rPr lang="en-US" sz="1400" dirty="0">
                <a:solidFill>
                  <a:srgbClr val="1A1A1A"/>
                </a:solidFill>
                <a:latin typeface="Calibri" pitchFamily="34" charset="0"/>
                <a:ea typeface="Calibri" pitchFamily="34" charset="-122"/>
                <a:cs typeface="Calibri" pitchFamily="34" charset="-120"/>
              </a:rPr>
              <a:t>Find the top crime types in the highest-crime area</a:t>
            </a:r>
            <a:endParaRPr lang="en-US" sz="1400" dirty="0"/>
          </a:p>
        </p:txBody>
      </p:sp>
      <p:sp>
        <p:nvSpPr>
          <p:cNvPr id="11" name="Text 9"/>
          <p:cNvSpPr/>
          <p:nvPr/>
        </p:nvSpPr>
        <p:spPr>
          <a:xfrm>
            <a:off x="11475720" y="6446520"/>
            <a:ext cx="457200" cy="32004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Dataset Overview</a:t>
            </a:r>
            <a:endParaRPr lang="en-US" sz="3200" dirty="0"/>
          </a:p>
        </p:txBody>
      </p:sp>
      <p:sp>
        <p:nvSpPr>
          <p:cNvPr id="3" name="Text 1"/>
          <p:cNvSpPr/>
          <p:nvPr/>
        </p:nvSpPr>
        <p:spPr>
          <a:xfrm>
            <a:off x="640080" y="1051560"/>
            <a:ext cx="10881360" cy="365760"/>
          </a:xfrm>
          <a:prstGeom prst="rect">
            <a:avLst/>
          </a:prstGeom>
          <a:noFill/>
          <a:ln/>
        </p:spPr>
        <p:txBody>
          <a:bodyPr wrap="square" rtlCol="0" anchor="ctr"/>
          <a:lstStyle/>
          <a:p>
            <a:pPr marL="0" indent="0">
              <a:buNone/>
            </a:pPr>
            <a:r>
              <a:rPr lang="en-US" sz="1500" i="1" dirty="0">
                <a:solidFill>
                  <a:srgbClr val="5A5A5A"/>
                </a:solidFill>
                <a:latin typeface="Calibri" pitchFamily="34" charset="0"/>
                <a:ea typeface="Calibri" pitchFamily="34" charset="-122"/>
                <a:cs typeface="Calibri" pitchFamily="34" charset="-120"/>
              </a:rPr>
              <a:t>LAPD Crime Data, 2020–2025</a:t>
            </a:r>
            <a:endParaRPr lang="en-US" sz="1500" dirty="0"/>
          </a:p>
        </p:txBody>
      </p:sp>
      <p:sp>
        <p:nvSpPr>
          <p:cNvPr id="4" name="Shape 2"/>
          <p:cNvSpPr/>
          <p:nvPr/>
        </p:nvSpPr>
        <p:spPr>
          <a:xfrm>
            <a:off x="630936" y="1965960"/>
            <a:ext cx="3429000" cy="1828800"/>
          </a:xfrm>
          <a:prstGeom prst="rect">
            <a:avLst/>
          </a:prstGeom>
          <a:solidFill>
            <a:srgbClr val="F4F4F4"/>
          </a:solidFill>
          <a:ln/>
        </p:spPr>
        <p:txBody>
          <a:bodyPr/>
          <a:lstStyle/>
          <a:p>
            <a:endParaRPr lang="en-BH"/>
          </a:p>
        </p:txBody>
      </p:sp>
      <p:sp>
        <p:nvSpPr>
          <p:cNvPr id="5" name="Text 3"/>
          <p:cNvSpPr/>
          <p:nvPr/>
        </p:nvSpPr>
        <p:spPr>
          <a:xfrm>
            <a:off x="630936" y="2194560"/>
            <a:ext cx="3429000" cy="868680"/>
          </a:xfrm>
          <a:prstGeom prst="rect">
            <a:avLst/>
          </a:prstGeom>
          <a:noFill/>
          <a:ln/>
        </p:spPr>
        <p:txBody>
          <a:bodyPr wrap="square" rtlCol="0" anchor="ctr"/>
          <a:lstStyle/>
          <a:p>
            <a:pPr marL="0" indent="0" algn="ctr">
              <a:buNone/>
            </a:pPr>
            <a:r>
              <a:rPr lang="en-US" sz="3000" b="1" dirty="0">
                <a:solidFill>
                  <a:srgbClr val="8B0000"/>
                </a:solidFill>
                <a:latin typeface="Cambria" pitchFamily="34" charset="0"/>
                <a:ea typeface="Cambria" pitchFamily="34" charset="-122"/>
                <a:cs typeface="Cambria" pitchFamily="34" charset="-120"/>
              </a:rPr>
              <a:t>1,005,198</a:t>
            </a:r>
            <a:endParaRPr lang="en-US" sz="3000" dirty="0"/>
          </a:p>
        </p:txBody>
      </p:sp>
      <p:sp>
        <p:nvSpPr>
          <p:cNvPr id="6" name="Text 4"/>
          <p:cNvSpPr/>
          <p:nvPr/>
        </p:nvSpPr>
        <p:spPr>
          <a:xfrm>
            <a:off x="630936" y="3108960"/>
            <a:ext cx="3429000" cy="457200"/>
          </a:xfrm>
          <a:prstGeom prst="rect">
            <a:avLst/>
          </a:prstGeom>
          <a:noFill/>
          <a:ln/>
        </p:spPr>
        <p:txBody>
          <a:bodyPr wrap="square" rtlCol="0" anchor="ctr"/>
          <a:lstStyle/>
          <a:p>
            <a:pPr marL="0" indent="0" algn="ctr">
              <a:buNone/>
            </a:pPr>
            <a:r>
              <a:rPr lang="en-US" sz="1250" kern="0" spc="100" dirty="0">
                <a:solidFill>
                  <a:srgbClr val="1A1A1A"/>
                </a:solidFill>
                <a:latin typeface="Calibri" pitchFamily="34" charset="0"/>
                <a:ea typeface="Calibri" pitchFamily="34" charset="-122"/>
                <a:cs typeface="Calibri" pitchFamily="34" charset="-120"/>
              </a:rPr>
              <a:t>CRIME RECORDS</a:t>
            </a:r>
            <a:endParaRPr lang="en-US" sz="1250" dirty="0"/>
          </a:p>
        </p:txBody>
      </p:sp>
      <p:sp>
        <p:nvSpPr>
          <p:cNvPr id="7" name="Shape 5"/>
          <p:cNvSpPr/>
          <p:nvPr/>
        </p:nvSpPr>
        <p:spPr>
          <a:xfrm>
            <a:off x="4379976" y="1965960"/>
            <a:ext cx="3429000" cy="1828800"/>
          </a:xfrm>
          <a:prstGeom prst="rect">
            <a:avLst/>
          </a:prstGeom>
          <a:solidFill>
            <a:srgbClr val="F4F4F4"/>
          </a:solidFill>
          <a:ln/>
        </p:spPr>
        <p:txBody>
          <a:bodyPr/>
          <a:lstStyle/>
          <a:p>
            <a:endParaRPr lang="en-BH"/>
          </a:p>
        </p:txBody>
      </p:sp>
      <p:sp>
        <p:nvSpPr>
          <p:cNvPr id="8" name="Text 6"/>
          <p:cNvSpPr/>
          <p:nvPr/>
        </p:nvSpPr>
        <p:spPr>
          <a:xfrm>
            <a:off x="4379976" y="2194560"/>
            <a:ext cx="3429000" cy="868680"/>
          </a:xfrm>
          <a:prstGeom prst="rect">
            <a:avLst/>
          </a:prstGeom>
          <a:noFill/>
          <a:ln/>
        </p:spPr>
        <p:txBody>
          <a:bodyPr wrap="square" rtlCol="0" anchor="ctr"/>
          <a:lstStyle/>
          <a:p>
            <a:pPr marL="0" indent="0" algn="ctr">
              <a:buNone/>
            </a:pPr>
            <a:r>
              <a:rPr lang="en-US" sz="3000" b="1" dirty="0">
                <a:solidFill>
                  <a:srgbClr val="8B0000"/>
                </a:solidFill>
                <a:latin typeface="Cambria" pitchFamily="34" charset="0"/>
                <a:ea typeface="Cambria" pitchFamily="34" charset="-122"/>
                <a:cs typeface="Cambria" pitchFamily="34" charset="-120"/>
              </a:rPr>
              <a:t>10</a:t>
            </a:r>
            <a:endParaRPr lang="en-US" sz="3000" dirty="0"/>
          </a:p>
        </p:txBody>
      </p:sp>
      <p:sp>
        <p:nvSpPr>
          <p:cNvPr id="9" name="Text 7"/>
          <p:cNvSpPr/>
          <p:nvPr/>
        </p:nvSpPr>
        <p:spPr>
          <a:xfrm>
            <a:off x="4379976" y="3108960"/>
            <a:ext cx="3429000" cy="457200"/>
          </a:xfrm>
          <a:prstGeom prst="rect">
            <a:avLst/>
          </a:prstGeom>
          <a:noFill/>
          <a:ln/>
        </p:spPr>
        <p:txBody>
          <a:bodyPr wrap="square" rtlCol="0" anchor="ctr"/>
          <a:lstStyle/>
          <a:p>
            <a:pPr marL="0" indent="0" algn="ctr">
              <a:buNone/>
            </a:pPr>
            <a:r>
              <a:rPr lang="en-US" sz="1250" kern="0" spc="100" dirty="0">
                <a:solidFill>
                  <a:srgbClr val="1A1A1A"/>
                </a:solidFill>
                <a:latin typeface="Calibri" pitchFamily="34" charset="0"/>
                <a:ea typeface="Calibri" pitchFamily="34" charset="-122"/>
                <a:cs typeface="Calibri" pitchFamily="34" charset="-120"/>
              </a:rPr>
              <a:t>VARIABLES</a:t>
            </a:r>
            <a:endParaRPr lang="en-US" sz="1250" dirty="0"/>
          </a:p>
        </p:txBody>
      </p:sp>
      <p:sp>
        <p:nvSpPr>
          <p:cNvPr id="10" name="Shape 8"/>
          <p:cNvSpPr/>
          <p:nvPr/>
        </p:nvSpPr>
        <p:spPr>
          <a:xfrm>
            <a:off x="8129016" y="1965960"/>
            <a:ext cx="3429000" cy="1828800"/>
          </a:xfrm>
          <a:prstGeom prst="rect">
            <a:avLst/>
          </a:prstGeom>
          <a:solidFill>
            <a:srgbClr val="F4F4F4"/>
          </a:solidFill>
          <a:ln/>
        </p:spPr>
        <p:txBody>
          <a:bodyPr/>
          <a:lstStyle/>
          <a:p>
            <a:endParaRPr lang="en-BH"/>
          </a:p>
        </p:txBody>
      </p:sp>
      <p:sp>
        <p:nvSpPr>
          <p:cNvPr id="11" name="Text 9"/>
          <p:cNvSpPr/>
          <p:nvPr/>
        </p:nvSpPr>
        <p:spPr>
          <a:xfrm>
            <a:off x="8129016" y="2194560"/>
            <a:ext cx="3429000" cy="868680"/>
          </a:xfrm>
          <a:prstGeom prst="rect">
            <a:avLst/>
          </a:prstGeom>
          <a:noFill/>
          <a:ln/>
        </p:spPr>
        <p:txBody>
          <a:bodyPr wrap="square" rtlCol="0" anchor="ctr"/>
          <a:lstStyle/>
          <a:p>
            <a:pPr marL="0" indent="0" algn="ctr">
              <a:buNone/>
            </a:pPr>
            <a:r>
              <a:rPr lang="en-US" sz="3000" b="1" dirty="0">
                <a:solidFill>
                  <a:srgbClr val="8B0000"/>
                </a:solidFill>
                <a:latin typeface="Cambria" pitchFamily="34" charset="0"/>
                <a:ea typeface="Cambria" pitchFamily="34" charset="-122"/>
                <a:cs typeface="Cambria" pitchFamily="34" charset="-120"/>
              </a:rPr>
              <a:t>2020–2025</a:t>
            </a:r>
            <a:endParaRPr lang="en-US" sz="3000" dirty="0"/>
          </a:p>
        </p:txBody>
      </p:sp>
      <p:sp>
        <p:nvSpPr>
          <p:cNvPr id="12" name="Text 10"/>
          <p:cNvSpPr/>
          <p:nvPr/>
        </p:nvSpPr>
        <p:spPr>
          <a:xfrm>
            <a:off x="8129016" y="3108960"/>
            <a:ext cx="3429000" cy="457200"/>
          </a:xfrm>
          <a:prstGeom prst="rect">
            <a:avLst/>
          </a:prstGeom>
          <a:noFill/>
          <a:ln/>
        </p:spPr>
        <p:txBody>
          <a:bodyPr wrap="square" rtlCol="0" anchor="ctr"/>
          <a:lstStyle/>
          <a:p>
            <a:pPr marL="0" indent="0" algn="ctr">
              <a:buNone/>
            </a:pPr>
            <a:r>
              <a:rPr lang="en-US" sz="1250" kern="0" spc="100" dirty="0">
                <a:solidFill>
                  <a:srgbClr val="1A1A1A"/>
                </a:solidFill>
                <a:latin typeface="Calibri" pitchFamily="34" charset="0"/>
                <a:ea typeface="Calibri" pitchFamily="34" charset="-122"/>
                <a:cs typeface="Calibri" pitchFamily="34" charset="-120"/>
              </a:rPr>
              <a:t>TIME COVERAGE</a:t>
            </a:r>
            <a:endParaRPr lang="en-US" sz="1250" dirty="0"/>
          </a:p>
        </p:txBody>
      </p:sp>
      <p:sp>
        <p:nvSpPr>
          <p:cNvPr id="13" name="Shape 11"/>
          <p:cNvSpPr/>
          <p:nvPr/>
        </p:nvSpPr>
        <p:spPr>
          <a:xfrm>
            <a:off x="630936" y="4114800"/>
            <a:ext cx="3429000" cy="1828800"/>
          </a:xfrm>
          <a:prstGeom prst="rect">
            <a:avLst/>
          </a:prstGeom>
          <a:solidFill>
            <a:srgbClr val="F4F4F4"/>
          </a:solidFill>
          <a:ln/>
        </p:spPr>
        <p:txBody>
          <a:bodyPr/>
          <a:lstStyle/>
          <a:p>
            <a:endParaRPr lang="en-BH"/>
          </a:p>
        </p:txBody>
      </p:sp>
      <p:sp>
        <p:nvSpPr>
          <p:cNvPr id="14" name="Text 12"/>
          <p:cNvSpPr/>
          <p:nvPr/>
        </p:nvSpPr>
        <p:spPr>
          <a:xfrm>
            <a:off x="630936" y="4343400"/>
            <a:ext cx="3429000" cy="868680"/>
          </a:xfrm>
          <a:prstGeom prst="rect">
            <a:avLst/>
          </a:prstGeom>
          <a:noFill/>
          <a:ln/>
        </p:spPr>
        <p:txBody>
          <a:bodyPr wrap="square" rtlCol="0" anchor="ctr"/>
          <a:lstStyle/>
          <a:p>
            <a:pPr marL="0" indent="0" algn="ctr">
              <a:buNone/>
            </a:pPr>
            <a:r>
              <a:rPr lang="en-US" sz="3000" b="1" dirty="0">
                <a:solidFill>
                  <a:srgbClr val="8B0000"/>
                </a:solidFill>
                <a:latin typeface="Cambria" pitchFamily="34" charset="0"/>
                <a:ea typeface="Cambria" pitchFamily="34" charset="-122"/>
                <a:cs typeface="Cambria" pitchFamily="34" charset="-120"/>
              </a:rPr>
              <a:t>Los Angeles</a:t>
            </a:r>
            <a:endParaRPr lang="en-US" sz="3000" dirty="0"/>
          </a:p>
        </p:txBody>
      </p:sp>
      <p:sp>
        <p:nvSpPr>
          <p:cNvPr id="15" name="Text 13"/>
          <p:cNvSpPr/>
          <p:nvPr/>
        </p:nvSpPr>
        <p:spPr>
          <a:xfrm>
            <a:off x="630936" y="5257800"/>
            <a:ext cx="3429000" cy="457200"/>
          </a:xfrm>
          <a:prstGeom prst="rect">
            <a:avLst/>
          </a:prstGeom>
          <a:noFill/>
          <a:ln/>
        </p:spPr>
        <p:txBody>
          <a:bodyPr wrap="square" rtlCol="0" anchor="ctr"/>
          <a:lstStyle/>
          <a:p>
            <a:pPr marL="0" indent="0" algn="ctr">
              <a:buNone/>
            </a:pPr>
            <a:r>
              <a:rPr lang="en-US" sz="1250" kern="0" spc="100" dirty="0">
                <a:solidFill>
                  <a:srgbClr val="1A1A1A"/>
                </a:solidFill>
                <a:latin typeface="Calibri" pitchFamily="34" charset="0"/>
                <a:ea typeface="Calibri" pitchFamily="34" charset="-122"/>
                <a:cs typeface="Calibri" pitchFamily="34" charset="-120"/>
              </a:rPr>
              <a:t>LOCATION</a:t>
            </a:r>
            <a:endParaRPr lang="en-US" sz="1250" dirty="0"/>
          </a:p>
        </p:txBody>
      </p:sp>
      <p:sp>
        <p:nvSpPr>
          <p:cNvPr id="16" name="Shape 14"/>
          <p:cNvSpPr/>
          <p:nvPr/>
        </p:nvSpPr>
        <p:spPr>
          <a:xfrm>
            <a:off x="4379976" y="4114800"/>
            <a:ext cx="3429000" cy="1828800"/>
          </a:xfrm>
          <a:prstGeom prst="rect">
            <a:avLst/>
          </a:prstGeom>
          <a:solidFill>
            <a:srgbClr val="F4F4F4"/>
          </a:solidFill>
          <a:ln/>
        </p:spPr>
        <p:txBody>
          <a:bodyPr/>
          <a:lstStyle/>
          <a:p>
            <a:endParaRPr lang="en-BH"/>
          </a:p>
        </p:txBody>
      </p:sp>
      <p:sp>
        <p:nvSpPr>
          <p:cNvPr id="17" name="Text 15"/>
          <p:cNvSpPr/>
          <p:nvPr/>
        </p:nvSpPr>
        <p:spPr>
          <a:xfrm>
            <a:off x="4379976" y="4343400"/>
            <a:ext cx="3429000" cy="868680"/>
          </a:xfrm>
          <a:prstGeom prst="rect">
            <a:avLst/>
          </a:prstGeom>
          <a:noFill/>
          <a:ln/>
        </p:spPr>
        <p:txBody>
          <a:bodyPr wrap="square" rtlCol="0" anchor="ctr"/>
          <a:lstStyle/>
          <a:p>
            <a:pPr marL="0" indent="0" algn="ctr">
              <a:buNone/>
            </a:pPr>
            <a:r>
              <a:rPr lang="en-US" sz="3000" b="1" dirty="0">
                <a:solidFill>
                  <a:srgbClr val="8B0000"/>
                </a:solidFill>
                <a:latin typeface="Cambria" pitchFamily="34" charset="0"/>
                <a:ea typeface="Cambria" pitchFamily="34" charset="-122"/>
                <a:cs typeface="Cambria" pitchFamily="34" charset="-120"/>
              </a:rPr>
              <a:t>0</a:t>
            </a:r>
            <a:endParaRPr lang="en-US" sz="3000" dirty="0"/>
          </a:p>
        </p:txBody>
      </p:sp>
      <p:sp>
        <p:nvSpPr>
          <p:cNvPr id="18" name="Text 16"/>
          <p:cNvSpPr/>
          <p:nvPr/>
        </p:nvSpPr>
        <p:spPr>
          <a:xfrm>
            <a:off x="4379976" y="5257800"/>
            <a:ext cx="3429000" cy="457200"/>
          </a:xfrm>
          <a:prstGeom prst="rect">
            <a:avLst/>
          </a:prstGeom>
          <a:noFill/>
          <a:ln/>
        </p:spPr>
        <p:txBody>
          <a:bodyPr wrap="square" rtlCol="0" anchor="ctr"/>
          <a:lstStyle/>
          <a:p>
            <a:pPr marL="0" indent="0" algn="ctr">
              <a:buNone/>
            </a:pPr>
            <a:r>
              <a:rPr lang="en-US" sz="1250" kern="0" spc="100" dirty="0">
                <a:solidFill>
                  <a:srgbClr val="1A1A1A"/>
                </a:solidFill>
                <a:latin typeface="Calibri" pitchFamily="34" charset="0"/>
                <a:ea typeface="Calibri" pitchFamily="34" charset="-122"/>
                <a:cs typeface="Calibri" pitchFamily="34" charset="-120"/>
              </a:rPr>
              <a:t>MISSING VALUES</a:t>
            </a:r>
            <a:endParaRPr lang="en-US" sz="1250" dirty="0"/>
          </a:p>
        </p:txBody>
      </p:sp>
      <p:sp>
        <p:nvSpPr>
          <p:cNvPr id="19" name="Shape 17"/>
          <p:cNvSpPr/>
          <p:nvPr/>
        </p:nvSpPr>
        <p:spPr>
          <a:xfrm>
            <a:off x="8129016" y="4114800"/>
            <a:ext cx="3429000" cy="1828800"/>
          </a:xfrm>
          <a:prstGeom prst="rect">
            <a:avLst/>
          </a:prstGeom>
          <a:solidFill>
            <a:srgbClr val="F4F4F4"/>
          </a:solidFill>
          <a:ln/>
        </p:spPr>
        <p:txBody>
          <a:bodyPr/>
          <a:lstStyle/>
          <a:p>
            <a:endParaRPr lang="en-BH"/>
          </a:p>
        </p:txBody>
      </p:sp>
      <p:sp>
        <p:nvSpPr>
          <p:cNvPr id="20" name="Text 18"/>
          <p:cNvSpPr/>
          <p:nvPr/>
        </p:nvSpPr>
        <p:spPr>
          <a:xfrm>
            <a:off x="8129016" y="4343400"/>
            <a:ext cx="3429000" cy="868680"/>
          </a:xfrm>
          <a:prstGeom prst="rect">
            <a:avLst/>
          </a:prstGeom>
          <a:noFill/>
          <a:ln/>
        </p:spPr>
        <p:txBody>
          <a:bodyPr wrap="square" rtlCol="0" anchor="ctr"/>
          <a:lstStyle/>
          <a:p>
            <a:pPr marL="0" indent="0" algn="ctr">
              <a:buNone/>
            </a:pPr>
            <a:r>
              <a:rPr lang="en-US" sz="3000" b="1" dirty="0">
                <a:solidFill>
                  <a:srgbClr val="8B0000"/>
                </a:solidFill>
                <a:latin typeface="Cambria" pitchFamily="34" charset="0"/>
                <a:ea typeface="Cambria" pitchFamily="34" charset="-122"/>
                <a:cs typeface="Cambria" pitchFamily="34" charset="-120"/>
              </a:rPr>
              <a:t>0</a:t>
            </a:r>
            <a:endParaRPr lang="en-US" sz="3000" dirty="0"/>
          </a:p>
        </p:txBody>
      </p:sp>
      <p:sp>
        <p:nvSpPr>
          <p:cNvPr id="21" name="Text 19"/>
          <p:cNvSpPr/>
          <p:nvPr/>
        </p:nvSpPr>
        <p:spPr>
          <a:xfrm>
            <a:off x="8129016" y="5257800"/>
            <a:ext cx="3429000" cy="457200"/>
          </a:xfrm>
          <a:prstGeom prst="rect">
            <a:avLst/>
          </a:prstGeom>
          <a:noFill/>
          <a:ln/>
        </p:spPr>
        <p:txBody>
          <a:bodyPr wrap="square" rtlCol="0" anchor="ctr"/>
          <a:lstStyle/>
          <a:p>
            <a:pPr marL="0" indent="0" algn="ctr">
              <a:buNone/>
            </a:pPr>
            <a:r>
              <a:rPr lang="en-US" sz="1250" kern="0" spc="100" dirty="0">
                <a:solidFill>
                  <a:srgbClr val="1A1A1A"/>
                </a:solidFill>
                <a:latin typeface="Calibri" pitchFamily="34" charset="0"/>
                <a:ea typeface="Calibri" pitchFamily="34" charset="-122"/>
                <a:cs typeface="Calibri" pitchFamily="34" charset="-120"/>
              </a:rPr>
              <a:t>DUPLICATE RECORDS</a:t>
            </a:r>
            <a:endParaRPr lang="en-US" sz="1250" dirty="0"/>
          </a:p>
        </p:txBody>
      </p:sp>
      <p:sp>
        <p:nvSpPr>
          <p:cNvPr id="22" name="Text 20"/>
          <p:cNvSpPr/>
          <p:nvPr/>
        </p:nvSpPr>
        <p:spPr>
          <a:xfrm>
            <a:off x="11475720" y="6446520"/>
            <a:ext cx="457200" cy="32004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top10_crime_types.png"/>
          <p:cNvPicPr>
            <a:picLocks noChangeAspect="1"/>
          </p:cNvPicPr>
          <p:nvPr/>
        </p:nvPicPr>
        <p:blipFill>
          <a:blip r:embed="rId3"/>
          <a:stretch>
            <a:fillRect/>
          </a:stretch>
        </p:blipFill>
        <p:spPr>
          <a:xfrm>
            <a:off x="0" y="1235416"/>
            <a:ext cx="11640312" cy="517094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8B0000"/>
          </a:solidFill>
          <a:ln/>
        </p:spPr>
        <p:txBody>
          <a:bodyPr/>
          <a:lstStyle/>
          <a:p>
            <a:endParaRPr lang="en-BH"/>
          </a:p>
        </p:txBody>
      </p:sp>
      <p:sp>
        <p:nvSpPr>
          <p:cNvPr id="3" name="Text 1"/>
          <p:cNvSpPr/>
          <p:nvPr/>
        </p:nvSpPr>
        <p:spPr>
          <a:xfrm>
            <a:off x="1188720" y="2011680"/>
            <a:ext cx="9811512" cy="502920"/>
          </a:xfrm>
          <a:prstGeom prst="rect">
            <a:avLst/>
          </a:prstGeom>
          <a:noFill/>
          <a:ln/>
        </p:spPr>
        <p:txBody>
          <a:bodyPr wrap="square" rtlCol="0" anchor="ctr"/>
          <a:lstStyle/>
          <a:p>
            <a:pPr marL="0" indent="0">
              <a:buNone/>
            </a:pPr>
            <a:r>
              <a:rPr lang="en-US" sz="1500" b="1" kern="0" spc="200" dirty="0">
                <a:solidFill>
                  <a:srgbClr val="FFD6D6"/>
                </a:solidFill>
                <a:latin typeface="Calibri" pitchFamily="34" charset="0"/>
                <a:ea typeface="Calibri" pitchFamily="34" charset="-122"/>
                <a:cs typeface="Calibri" pitchFamily="34" charset="-120"/>
              </a:rPr>
              <a:t>FINDING</a:t>
            </a:r>
            <a:endParaRPr lang="en-US" sz="1500" dirty="0"/>
          </a:p>
        </p:txBody>
      </p:sp>
      <p:sp>
        <p:nvSpPr>
          <p:cNvPr id="4" name="Text 2"/>
          <p:cNvSpPr/>
          <p:nvPr/>
        </p:nvSpPr>
        <p:spPr>
          <a:xfrm>
            <a:off x="1188720" y="2606040"/>
            <a:ext cx="9811512" cy="2377440"/>
          </a:xfrm>
          <a:prstGeom prst="rect">
            <a:avLst/>
          </a:prstGeom>
          <a:noFill/>
          <a:ln/>
        </p:spPr>
        <p:txBody>
          <a:bodyPr wrap="square" rtlCol="0" anchor="t"/>
          <a:lstStyle/>
          <a:p>
            <a:pPr marL="0" indent="0">
              <a:lnSpc>
                <a:spcPct val="125000"/>
              </a:lnSpc>
              <a:buNone/>
            </a:pPr>
            <a:r>
              <a:rPr lang="en-US" sz="2600" dirty="0">
                <a:solidFill>
                  <a:srgbClr val="FFFFFF"/>
                </a:solidFill>
                <a:latin typeface="Cambria" pitchFamily="34" charset="0"/>
                <a:ea typeface="Cambria" pitchFamily="34" charset="-122"/>
                <a:cs typeface="Cambria" pitchFamily="34" charset="-120"/>
              </a:rPr>
              <a:t>Vehicle Theft was the most frequently reported crime, followed by Battery – Simple Assault and Burglary from Vehicle.</a:t>
            </a:r>
            <a:endParaRPr lang="en-US" sz="2600" dirty="0"/>
          </a:p>
        </p:txBody>
      </p:sp>
      <p:sp>
        <p:nvSpPr>
          <p:cNvPr id="5" name="Text 3"/>
          <p:cNvSpPr/>
          <p:nvPr/>
        </p:nvSpPr>
        <p:spPr>
          <a:xfrm>
            <a:off x="11475720" y="6446520"/>
            <a:ext cx="457200" cy="320040"/>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top10_areas.png"/>
          <p:cNvPicPr>
            <a:picLocks noChangeAspect="1"/>
          </p:cNvPicPr>
          <p:nvPr/>
        </p:nvPicPr>
        <p:blipFill>
          <a:blip r:embed="rId3"/>
          <a:stretch>
            <a:fillRect/>
          </a:stretch>
        </p:blipFill>
        <p:spPr>
          <a:xfrm>
            <a:off x="1689042" y="274320"/>
            <a:ext cx="8810868" cy="63093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8B0000"/>
          </a:solidFill>
          <a:ln/>
        </p:spPr>
        <p:txBody>
          <a:bodyPr/>
          <a:lstStyle/>
          <a:p>
            <a:endParaRPr lang="en-BH"/>
          </a:p>
        </p:txBody>
      </p:sp>
      <p:sp>
        <p:nvSpPr>
          <p:cNvPr id="3" name="Text 1"/>
          <p:cNvSpPr/>
          <p:nvPr/>
        </p:nvSpPr>
        <p:spPr>
          <a:xfrm>
            <a:off x="1188720" y="2011680"/>
            <a:ext cx="9811512" cy="502920"/>
          </a:xfrm>
          <a:prstGeom prst="rect">
            <a:avLst/>
          </a:prstGeom>
          <a:noFill/>
          <a:ln/>
        </p:spPr>
        <p:txBody>
          <a:bodyPr wrap="square" rtlCol="0" anchor="ctr"/>
          <a:lstStyle/>
          <a:p>
            <a:pPr marL="0" indent="0">
              <a:buNone/>
            </a:pPr>
            <a:r>
              <a:rPr lang="en-US" sz="1500" b="1" kern="0" spc="200" dirty="0">
                <a:solidFill>
                  <a:srgbClr val="FFD6D6"/>
                </a:solidFill>
                <a:latin typeface="Calibri" pitchFamily="34" charset="0"/>
                <a:ea typeface="Calibri" pitchFamily="34" charset="-122"/>
                <a:cs typeface="Calibri" pitchFamily="34" charset="-120"/>
              </a:rPr>
              <a:t>FINDING</a:t>
            </a:r>
            <a:endParaRPr lang="en-US" sz="1500" dirty="0"/>
          </a:p>
        </p:txBody>
      </p:sp>
      <p:sp>
        <p:nvSpPr>
          <p:cNvPr id="4" name="Text 2"/>
          <p:cNvSpPr/>
          <p:nvPr/>
        </p:nvSpPr>
        <p:spPr>
          <a:xfrm>
            <a:off x="1188720" y="2606040"/>
            <a:ext cx="9811512" cy="2377440"/>
          </a:xfrm>
          <a:prstGeom prst="rect">
            <a:avLst/>
          </a:prstGeom>
          <a:noFill/>
          <a:ln/>
        </p:spPr>
        <p:txBody>
          <a:bodyPr wrap="square" rtlCol="0" anchor="t"/>
          <a:lstStyle/>
          <a:p>
            <a:pPr marL="0" indent="0">
              <a:lnSpc>
                <a:spcPct val="125000"/>
              </a:lnSpc>
              <a:buNone/>
            </a:pPr>
            <a:r>
              <a:rPr lang="en-US" sz="2600" dirty="0">
                <a:solidFill>
                  <a:srgbClr val="FFFFFF"/>
                </a:solidFill>
                <a:latin typeface="Cambria" pitchFamily="34" charset="0"/>
                <a:ea typeface="Cambria" pitchFamily="34" charset="-122"/>
                <a:cs typeface="Cambria" pitchFamily="34" charset="-120"/>
              </a:rPr>
              <a:t>Central recorded the highest number of crime incidents, followed by 77th Street and Pacific.</a:t>
            </a:r>
            <a:endParaRPr lang="en-US" sz="2600" dirty="0"/>
          </a:p>
        </p:txBody>
      </p:sp>
      <p:sp>
        <p:nvSpPr>
          <p:cNvPr id="5" name="Text 3"/>
          <p:cNvSpPr/>
          <p:nvPr/>
        </p:nvSpPr>
        <p:spPr>
          <a:xfrm>
            <a:off x="11475720" y="6446520"/>
            <a:ext cx="457200" cy="320040"/>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crime_by_year.png"/>
          <p:cNvPicPr>
            <a:picLocks noChangeAspect="1"/>
          </p:cNvPicPr>
          <p:nvPr/>
        </p:nvPicPr>
        <p:blipFill>
          <a:blip r:embed="rId3"/>
          <a:stretch>
            <a:fillRect/>
          </a:stretch>
        </p:blipFill>
        <p:spPr>
          <a:xfrm>
            <a:off x="1923056" y="274320"/>
            <a:ext cx="8342840" cy="63093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8B0000"/>
          </a:solidFill>
          <a:ln/>
        </p:spPr>
        <p:txBody>
          <a:bodyPr/>
          <a:lstStyle/>
          <a:p>
            <a:endParaRPr lang="en-BH"/>
          </a:p>
        </p:txBody>
      </p:sp>
      <p:sp>
        <p:nvSpPr>
          <p:cNvPr id="3" name="Text 1"/>
          <p:cNvSpPr/>
          <p:nvPr/>
        </p:nvSpPr>
        <p:spPr>
          <a:xfrm>
            <a:off x="1188720" y="2011680"/>
            <a:ext cx="9811512" cy="502920"/>
          </a:xfrm>
          <a:prstGeom prst="rect">
            <a:avLst/>
          </a:prstGeom>
          <a:noFill/>
          <a:ln/>
        </p:spPr>
        <p:txBody>
          <a:bodyPr wrap="square" rtlCol="0" anchor="ctr"/>
          <a:lstStyle/>
          <a:p>
            <a:pPr marL="0" indent="0">
              <a:buNone/>
            </a:pPr>
            <a:r>
              <a:rPr lang="en-US" sz="1500" b="1" kern="0" spc="200" dirty="0">
                <a:solidFill>
                  <a:srgbClr val="FFD6D6"/>
                </a:solidFill>
                <a:latin typeface="Calibri" pitchFamily="34" charset="0"/>
                <a:ea typeface="Calibri" pitchFamily="34" charset="-122"/>
                <a:cs typeface="Calibri" pitchFamily="34" charset="-120"/>
              </a:rPr>
              <a:t>FINDING</a:t>
            </a:r>
            <a:endParaRPr lang="en-US" sz="1500" dirty="0"/>
          </a:p>
        </p:txBody>
      </p:sp>
      <p:sp>
        <p:nvSpPr>
          <p:cNvPr id="4" name="Text 2"/>
          <p:cNvSpPr/>
          <p:nvPr/>
        </p:nvSpPr>
        <p:spPr>
          <a:xfrm>
            <a:off x="1188720" y="2606040"/>
            <a:ext cx="9811512" cy="2377440"/>
          </a:xfrm>
          <a:prstGeom prst="rect">
            <a:avLst/>
          </a:prstGeom>
          <a:noFill/>
          <a:ln/>
        </p:spPr>
        <p:txBody>
          <a:bodyPr wrap="square" rtlCol="0" anchor="t"/>
          <a:lstStyle/>
          <a:p>
            <a:pPr marL="0" indent="0">
              <a:lnSpc>
                <a:spcPct val="125000"/>
              </a:lnSpc>
              <a:buNone/>
            </a:pPr>
            <a:r>
              <a:rPr lang="en-US" sz="2600" dirty="0">
                <a:solidFill>
                  <a:srgbClr val="FFFFFF"/>
                </a:solidFill>
                <a:latin typeface="Cambria" pitchFamily="34" charset="0"/>
                <a:ea typeface="Cambria" pitchFamily="34" charset="-122"/>
                <a:cs typeface="Cambria" pitchFamily="34" charset="-120"/>
              </a:rPr>
              <a:t>Crime incidents increased until 2022 before declining. The sharp drop in 2024 and near-zero value in 2025 reflect that only a small portion of recent data is included in the dataset.</a:t>
            </a:r>
            <a:endParaRPr lang="en-US" sz="2600" dirty="0"/>
          </a:p>
        </p:txBody>
      </p:sp>
      <p:sp>
        <p:nvSpPr>
          <p:cNvPr id="5" name="Text 3"/>
          <p:cNvSpPr/>
          <p:nvPr/>
        </p:nvSpPr>
        <p:spPr>
          <a:xfrm>
            <a:off x="11475720" y="6446520"/>
            <a:ext cx="457200" cy="320040"/>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time_of_day.png"/>
          <p:cNvPicPr>
            <a:picLocks noChangeAspect="1"/>
          </p:cNvPicPr>
          <p:nvPr/>
        </p:nvPicPr>
        <p:blipFill>
          <a:blip r:embed="rId3"/>
          <a:stretch>
            <a:fillRect/>
          </a:stretch>
        </p:blipFill>
        <p:spPr>
          <a:xfrm>
            <a:off x="2389273" y="274320"/>
            <a:ext cx="7410405" cy="63093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8B0000"/>
          </a:solidFill>
          <a:ln/>
        </p:spPr>
        <p:txBody>
          <a:bodyPr/>
          <a:lstStyle/>
          <a:p>
            <a:endParaRPr lang="en-BH"/>
          </a:p>
        </p:txBody>
      </p:sp>
      <p:sp>
        <p:nvSpPr>
          <p:cNvPr id="3" name="Text 1"/>
          <p:cNvSpPr/>
          <p:nvPr/>
        </p:nvSpPr>
        <p:spPr>
          <a:xfrm>
            <a:off x="1188720" y="2011680"/>
            <a:ext cx="9811512" cy="502920"/>
          </a:xfrm>
          <a:prstGeom prst="rect">
            <a:avLst/>
          </a:prstGeom>
          <a:noFill/>
          <a:ln/>
        </p:spPr>
        <p:txBody>
          <a:bodyPr wrap="square" rtlCol="0" anchor="ctr"/>
          <a:lstStyle/>
          <a:p>
            <a:pPr marL="0" indent="0">
              <a:buNone/>
            </a:pPr>
            <a:r>
              <a:rPr lang="en-US" sz="1500" b="1" kern="0" spc="200" dirty="0">
                <a:solidFill>
                  <a:srgbClr val="FFD6D6"/>
                </a:solidFill>
                <a:latin typeface="Calibri" pitchFamily="34" charset="0"/>
                <a:ea typeface="Calibri" pitchFamily="34" charset="-122"/>
                <a:cs typeface="Calibri" pitchFamily="34" charset="-120"/>
              </a:rPr>
              <a:t>FINDING</a:t>
            </a:r>
            <a:endParaRPr lang="en-US" sz="1500" dirty="0"/>
          </a:p>
        </p:txBody>
      </p:sp>
      <p:sp>
        <p:nvSpPr>
          <p:cNvPr id="4" name="Text 2"/>
          <p:cNvSpPr/>
          <p:nvPr/>
        </p:nvSpPr>
        <p:spPr>
          <a:xfrm>
            <a:off x="1188720" y="2606040"/>
            <a:ext cx="9811512" cy="2377440"/>
          </a:xfrm>
          <a:prstGeom prst="rect">
            <a:avLst/>
          </a:prstGeom>
          <a:noFill/>
          <a:ln/>
        </p:spPr>
        <p:txBody>
          <a:bodyPr wrap="square" rtlCol="0" anchor="t"/>
          <a:lstStyle/>
          <a:p>
            <a:pPr marL="0" indent="0">
              <a:lnSpc>
                <a:spcPct val="125000"/>
              </a:lnSpc>
              <a:buNone/>
            </a:pPr>
            <a:r>
              <a:rPr lang="en-US" sz="2600" dirty="0">
                <a:solidFill>
                  <a:srgbClr val="FFFFFF"/>
                </a:solidFill>
                <a:latin typeface="Cambria" pitchFamily="34" charset="0"/>
                <a:ea typeface="Cambria" pitchFamily="34" charset="-122"/>
                <a:cs typeface="Cambria" pitchFamily="34" charset="-120"/>
              </a:rPr>
              <a:t>Most crimes were reported during the Night, followed by the Afternoon. Morning recorded the fewest incidents.</a:t>
            </a:r>
            <a:endParaRPr lang="en-US" sz="2600" dirty="0"/>
          </a:p>
        </p:txBody>
      </p:sp>
      <p:sp>
        <p:nvSpPr>
          <p:cNvPr id="5" name="Text 3"/>
          <p:cNvSpPr/>
          <p:nvPr/>
        </p:nvSpPr>
        <p:spPr>
          <a:xfrm>
            <a:off x="11475720" y="6446520"/>
            <a:ext cx="457200" cy="320040"/>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central_top10.png"/>
          <p:cNvPicPr>
            <a:picLocks noChangeAspect="1"/>
          </p:cNvPicPr>
          <p:nvPr/>
        </p:nvPicPr>
        <p:blipFill>
          <a:blip r:embed="rId3"/>
          <a:stretch>
            <a:fillRect/>
          </a:stretch>
        </p:blipFill>
        <p:spPr>
          <a:xfrm>
            <a:off x="3140363" y="274320"/>
            <a:ext cx="5908226" cy="63093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8B0000"/>
          </a:solidFill>
          <a:ln/>
        </p:spPr>
        <p:txBody>
          <a:bodyPr/>
          <a:lstStyle/>
          <a:p>
            <a:endParaRPr lang="en-BH"/>
          </a:p>
        </p:txBody>
      </p:sp>
      <p:sp>
        <p:nvSpPr>
          <p:cNvPr id="3" name="Text 1"/>
          <p:cNvSpPr/>
          <p:nvPr/>
        </p:nvSpPr>
        <p:spPr>
          <a:xfrm>
            <a:off x="1188720" y="2011680"/>
            <a:ext cx="9811512" cy="502920"/>
          </a:xfrm>
          <a:prstGeom prst="rect">
            <a:avLst/>
          </a:prstGeom>
          <a:noFill/>
          <a:ln/>
        </p:spPr>
        <p:txBody>
          <a:bodyPr wrap="square" rtlCol="0" anchor="ctr"/>
          <a:lstStyle/>
          <a:p>
            <a:pPr marL="0" indent="0">
              <a:buNone/>
            </a:pPr>
            <a:r>
              <a:rPr lang="en-US" sz="1500" b="1" kern="0" spc="200" dirty="0">
                <a:solidFill>
                  <a:srgbClr val="FFD6D6"/>
                </a:solidFill>
                <a:latin typeface="Calibri" pitchFamily="34" charset="0"/>
                <a:ea typeface="Calibri" pitchFamily="34" charset="-122"/>
                <a:cs typeface="Calibri" pitchFamily="34" charset="-120"/>
              </a:rPr>
              <a:t>FINDING</a:t>
            </a:r>
            <a:endParaRPr lang="en-US" sz="1500" dirty="0"/>
          </a:p>
        </p:txBody>
      </p:sp>
      <p:sp>
        <p:nvSpPr>
          <p:cNvPr id="4" name="Text 2"/>
          <p:cNvSpPr/>
          <p:nvPr/>
        </p:nvSpPr>
        <p:spPr>
          <a:xfrm>
            <a:off x="1188720" y="2606040"/>
            <a:ext cx="9811512" cy="2377440"/>
          </a:xfrm>
          <a:prstGeom prst="rect">
            <a:avLst/>
          </a:prstGeom>
          <a:noFill/>
          <a:ln/>
        </p:spPr>
        <p:txBody>
          <a:bodyPr wrap="square" rtlCol="0" anchor="t"/>
          <a:lstStyle/>
          <a:p>
            <a:pPr marL="0" indent="0">
              <a:lnSpc>
                <a:spcPct val="125000"/>
              </a:lnSpc>
              <a:buNone/>
            </a:pPr>
            <a:r>
              <a:rPr lang="en-US" sz="2600" dirty="0">
                <a:solidFill>
                  <a:srgbClr val="FFFFFF"/>
                </a:solidFill>
                <a:latin typeface="Cambria" pitchFamily="34" charset="0"/>
                <a:ea typeface="Cambria" pitchFamily="34" charset="-122"/>
                <a:cs typeface="Cambria" pitchFamily="34" charset="-120"/>
              </a:rPr>
              <a:t>Burglary from Vehicle was the most common crime in Central. Vehicle-related and theft-related incidents were common in this area.</a:t>
            </a:r>
            <a:endParaRPr lang="en-US" sz="2600" dirty="0"/>
          </a:p>
        </p:txBody>
      </p:sp>
      <p:sp>
        <p:nvSpPr>
          <p:cNvPr id="5" name="Text 3"/>
          <p:cNvSpPr/>
          <p:nvPr/>
        </p:nvSpPr>
        <p:spPr>
          <a:xfrm>
            <a:off x="11475720" y="6446520"/>
            <a:ext cx="457200" cy="320040"/>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Summary</a:t>
            </a:r>
            <a:endParaRPr lang="en-US" sz="3200" dirty="0"/>
          </a:p>
        </p:txBody>
      </p:sp>
      <p:sp>
        <p:nvSpPr>
          <p:cNvPr id="3" name="Shape 1"/>
          <p:cNvSpPr/>
          <p:nvPr/>
        </p:nvSpPr>
        <p:spPr>
          <a:xfrm>
            <a:off x="640080" y="1417320"/>
            <a:ext cx="5349240" cy="1417320"/>
          </a:xfrm>
          <a:prstGeom prst="rect">
            <a:avLst/>
          </a:prstGeom>
          <a:solidFill>
            <a:srgbClr val="F4F4F4"/>
          </a:solidFill>
          <a:ln/>
        </p:spPr>
        <p:txBody>
          <a:bodyPr/>
          <a:lstStyle/>
          <a:p>
            <a:endParaRPr lang="en-BH"/>
          </a:p>
        </p:txBody>
      </p:sp>
      <p:sp>
        <p:nvSpPr>
          <p:cNvPr id="4" name="Text 2"/>
          <p:cNvSpPr/>
          <p:nvPr/>
        </p:nvSpPr>
        <p:spPr>
          <a:xfrm>
            <a:off x="960120" y="1417320"/>
            <a:ext cx="4846320" cy="141732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More than one million crime incidents were analyzed</a:t>
            </a:r>
            <a:endParaRPr lang="en-US" sz="1500" dirty="0"/>
          </a:p>
        </p:txBody>
      </p:sp>
      <p:sp>
        <p:nvSpPr>
          <p:cNvPr id="5" name="Shape 3"/>
          <p:cNvSpPr/>
          <p:nvPr/>
        </p:nvSpPr>
        <p:spPr>
          <a:xfrm>
            <a:off x="6309360" y="1417320"/>
            <a:ext cx="5349240" cy="1417320"/>
          </a:xfrm>
          <a:prstGeom prst="rect">
            <a:avLst/>
          </a:prstGeom>
          <a:solidFill>
            <a:srgbClr val="F4F4F4"/>
          </a:solidFill>
          <a:ln/>
        </p:spPr>
        <p:txBody>
          <a:bodyPr/>
          <a:lstStyle/>
          <a:p>
            <a:endParaRPr lang="en-BH"/>
          </a:p>
        </p:txBody>
      </p:sp>
      <p:sp>
        <p:nvSpPr>
          <p:cNvPr id="6" name="Text 4"/>
          <p:cNvSpPr/>
          <p:nvPr/>
        </p:nvSpPr>
        <p:spPr>
          <a:xfrm>
            <a:off x="6629400" y="1417320"/>
            <a:ext cx="4846320" cy="141732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Vehicle Theft was the most common crime</a:t>
            </a:r>
            <a:endParaRPr lang="en-US" sz="1500" dirty="0"/>
          </a:p>
        </p:txBody>
      </p:sp>
      <p:sp>
        <p:nvSpPr>
          <p:cNvPr id="7" name="Shape 5"/>
          <p:cNvSpPr/>
          <p:nvPr/>
        </p:nvSpPr>
        <p:spPr>
          <a:xfrm>
            <a:off x="640080" y="3154680"/>
            <a:ext cx="5349240" cy="1417320"/>
          </a:xfrm>
          <a:prstGeom prst="rect">
            <a:avLst/>
          </a:prstGeom>
          <a:solidFill>
            <a:srgbClr val="F4F4F4"/>
          </a:solidFill>
          <a:ln/>
        </p:spPr>
        <p:txBody>
          <a:bodyPr/>
          <a:lstStyle/>
          <a:p>
            <a:endParaRPr lang="en-BH"/>
          </a:p>
        </p:txBody>
      </p:sp>
      <p:sp>
        <p:nvSpPr>
          <p:cNvPr id="8" name="Text 6"/>
          <p:cNvSpPr/>
          <p:nvPr/>
        </p:nvSpPr>
        <p:spPr>
          <a:xfrm>
            <a:off x="960120" y="3154680"/>
            <a:ext cx="4846320" cy="141732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Central recorded the highest crime rate</a:t>
            </a:r>
            <a:endParaRPr lang="en-US" sz="1500" dirty="0"/>
          </a:p>
        </p:txBody>
      </p:sp>
      <p:sp>
        <p:nvSpPr>
          <p:cNvPr id="9" name="Shape 7"/>
          <p:cNvSpPr/>
          <p:nvPr/>
        </p:nvSpPr>
        <p:spPr>
          <a:xfrm>
            <a:off x="6309360" y="3154680"/>
            <a:ext cx="5349240" cy="1417320"/>
          </a:xfrm>
          <a:prstGeom prst="rect">
            <a:avLst/>
          </a:prstGeom>
          <a:solidFill>
            <a:srgbClr val="F4F4F4"/>
          </a:solidFill>
          <a:ln/>
        </p:spPr>
        <p:txBody>
          <a:bodyPr/>
          <a:lstStyle/>
          <a:p>
            <a:endParaRPr lang="en-BH"/>
          </a:p>
        </p:txBody>
      </p:sp>
      <p:sp>
        <p:nvSpPr>
          <p:cNvPr id="10" name="Text 8"/>
          <p:cNvSpPr/>
          <p:nvPr/>
        </p:nvSpPr>
        <p:spPr>
          <a:xfrm>
            <a:off x="6629400" y="3154680"/>
            <a:ext cx="4846320" cy="141732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Crime peaked in 2022</a:t>
            </a:r>
            <a:endParaRPr lang="en-US" sz="1500" dirty="0"/>
          </a:p>
        </p:txBody>
      </p:sp>
      <p:sp>
        <p:nvSpPr>
          <p:cNvPr id="11" name="Shape 9"/>
          <p:cNvSpPr/>
          <p:nvPr/>
        </p:nvSpPr>
        <p:spPr>
          <a:xfrm>
            <a:off x="640080" y="4892040"/>
            <a:ext cx="5349240" cy="1417320"/>
          </a:xfrm>
          <a:prstGeom prst="rect">
            <a:avLst/>
          </a:prstGeom>
          <a:solidFill>
            <a:srgbClr val="F4F4F4"/>
          </a:solidFill>
          <a:ln/>
        </p:spPr>
        <p:txBody>
          <a:bodyPr/>
          <a:lstStyle/>
          <a:p>
            <a:endParaRPr lang="en-BH"/>
          </a:p>
        </p:txBody>
      </p:sp>
      <p:sp>
        <p:nvSpPr>
          <p:cNvPr id="12" name="Text 10"/>
          <p:cNvSpPr/>
          <p:nvPr/>
        </p:nvSpPr>
        <p:spPr>
          <a:xfrm>
            <a:off x="960120" y="4892040"/>
            <a:ext cx="4846320" cy="141732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Most crimes occurred at night</a:t>
            </a:r>
            <a:endParaRPr lang="en-US" sz="1500" dirty="0"/>
          </a:p>
        </p:txBody>
      </p:sp>
      <p:sp>
        <p:nvSpPr>
          <p:cNvPr id="13" name="Shape 11"/>
          <p:cNvSpPr/>
          <p:nvPr/>
        </p:nvSpPr>
        <p:spPr>
          <a:xfrm>
            <a:off x="6309360" y="4892040"/>
            <a:ext cx="5349240" cy="1417320"/>
          </a:xfrm>
          <a:prstGeom prst="rect">
            <a:avLst/>
          </a:prstGeom>
          <a:solidFill>
            <a:srgbClr val="F4F4F4"/>
          </a:solidFill>
          <a:ln/>
        </p:spPr>
        <p:txBody>
          <a:bodyPr/>
          <a:lstStyle/>
          <a:p>
            <a:endParaRPr lang="en-BH"/>
          </a:p>
        </p:txBody>
      </p:sp>
      <p:sp>
        <p:nvSpPr>
          <p:cNvPr id="14" name="Text 12"/>
          <p:cNvSpPr/>
          <p:nvPr/>
        </p:nvSpPr>
        <p:spPr>
          <a:xfrm>
            <a:off x="6629400" y="4892040"/>
            <a:ext cx="4846320" cy="141732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Vehicle-related crimes were common in Central</a:t>
            </a:r>
            <a:endParaRPr lang="en-US" sz="1500" dirty="0"/>
          </a:p>
        </p:txBody>
      </p:sp>
      <p:sp>
        <p:nvSpPr>
          <p:cNvPr id="15" name="Text 13"/>
          <p:cNvSpPr/>
          <p:nvPr/>
        </p:nvSpPr>
        <p:spPr>
          <a:xfrm>
            <a:off x="11475720" y="6446520"/>
            <a:ext cx="457200" cy="32004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Recommendations</a:t>
            </a:r>
            <a:endParaRPr lang="en-US" sz="3200" dirty="0"/>
          </a:p>
        </p:txBody>
      </p:sp>
      <p:sp>
        <p:nvSpPr>
          <p:cNvPr id="3" name="Shape 1"/>
          <p:cNvSpPr/>
          <p:nvPr/>
        </p:nvSpPr>
        <p:spPr>
          <a:xfrm>
            <a:off x="640080" y="1645920"/>
            <a:ext cx="10908792" cy="1051560"/>
          </a:xfrm>
          <a:prstGeom prst="rect">
            <a:avLst/>
          </a:prstGeom>
          <a:solidFill>
            <a:srgbClr val="F4F4F4"/>
          </a:solidFill>
          <a:ln/>
        </p:spPr>
        <p:txBody>
          <a:bodyPr/>
          <a:lstStyle/>
          <a:p>
            <a:endParaRPr lang="en-BH"/>
          </a:p>
        </p:txBody>
      </p:sp>
      <p:sp>
        <p:nvSpPr>
          <p:cNvPr id="4" name="Text 2"/>
          <p:cNvSpPr/>
          <p:nvPr/>
        </p:nvSpPr>
        <p:spPr>
          <a:xfrm>
            <a:off x="868680" y="1645920"/>
            <a:ext cx="822960" cy="1051560"/>
          </a:xfrm>
          <a:prstGeom prst="rect">
            <a:avLst/>
          </a:prstGeom>
          <a:noFill/>
          <a:ln/>
        </p:spPr>
        <p:txBody>
          <a:bodyPr wrap="square" rtlCol="0" anchor="ctr"/>
          <a:lstStyle/>
          <a:p>
            <a:pPr marL="0" indent="0">
              <a:buNone/>
            </a:pPr>
            <a:r>
              <a:rPr lang="en-US" sz="3000" b="1" dirty="0">
                <a:solidFill>
                  <a:srgbClr val="8B0000"/>
                </a:solidFill>
                <a:latin typeface="Cambria" pitchFamily="34" charset="0"/>
                <a:ea typeface="Cambria" pitchFamily="34" charset="-122"/>
                <a:cs typeface="Cambria" pitchFamily="34" charset="-120"/>
              </a:rPr>
              <a:t>1</a:t>
            </a:r>
            <a:endParaRPr lang="en-US" sz="3000" dirty="0"/>
          </a:p>
        </p:txBody>
      </p:sp>
      <p:sp>
        <p:nvSpPr>
          <p:cNvPr id="5" name="Text 3"/>
          <p:cNvSpPr/>
          <p:nvPr/>
        </p:nvSpPr>
        <p:spPr>
          <a:xfrm>
            <a:off x="1828800" y="1645920"/>
            <a:ext cx="9509760" cy="1051560"/>
          </a:xfrm>
          <a:prstGeom prst="rect">
            <a:avLst/>
          </a:prstGeom>
          <a:noFill/>
          <a:ln/>
        </p:spPr>
        <p:txBody>
          <a:bodyPr wrap="square" rtlCol="0" anchor="ctr"/>
          <a:lstStyle/>
          <a:p>
            <a:pPr marL="0" indent="0">
              <a:buNone/>
            </a:pPr>
            <a:r>
              <a:rPr lang="en-US" sz="1700" dirty="0">
                <a:solidFill>
                  <a:srgbClr val="1A1A1A"/>
                </a:solidFill>
                <a:latin typeface="Calibri" pitchFamily="34" charset="0"/>
                <a:ea typeface="Calibri" pitchFamily="34" charset="-122"/>
                <a:cs typeface="Calibri" pitchFamily="34" charset="-120"/>
              </a:rPr>
              <a:t>Increase police patrols in Central</a:t>
            </a:r>
            <a:endParaRPr lang="en-US" sz="1700" dirty="0"/>
          </a:p>
        </p:txBody>
      </p:sp>
      <p:sp>
        <p:nvSpPr>
          <p:cNvPr id="6" name="Shape 4"/>
          <p:cNvSpPr/>
          <p:nvPr/>
        </p:nvSpPr>
        <p:spPr>
          <a:xfrm>
            <a:off x="640080" y="2926080"/>
            <a:ext cx="10908792" cy="1051560"/>
          </a:xfrm>
          <a:prstGeom prst="rect">
            <a:avLst/>
          </a:prstGeom>
          <a:solidFill>
            <a:srgbClr val="F4F4F4"/>
          </a:solidFill>
          <a:ln/>
        </p:spPr>
        <p:txBody>
          <a:bodyPr/>
          <a:lstStyle/>
          <a:p>
            <a:endParaRPr lang="en-BH"/>
          </a:p>
        </p:txBody>
      </p:sp>
      <p:sp>
        <p:nvSpPr>
          <p:cNvPr id="7" name="Text 5"/>
          <p:cNvSpPr/>
          <p:nvPr/>
        </p:nvSpPr>
        <p:spPr>
          <a:xfrm>
            <a:off x="868680" y="2926080"/>
            <a:ext cx="822960" cy="1051560"/>
          </a:xfrm>
          <a:prstGeom prst="rect">
            <a:avLst/>
          </a:prstGeom>
          <a:noFill/>
          <a:ln/>
        </p:spPr>
        <p:txBody>
          <a:bodyPr wrap="square" rtlCol="0" anchor="ctr"/>
          <a:lstStyle/>
          <a:p>
            <a:pPr marL="0" indent="0">
              <a:buNone/>
            </a:pPr>
            <a:r>
              <a:rPr lang="en-US" sz="3000" b="1" dirty="0">
                <a:solidFill>
                  <a:srgbClr val="8B0000"/>
                </a:solidFill>
                <a:latin typeface="Cambria" pitchFamily="34" charset="0"/>
                <a:ea typeface="Cambria" pitchFamily="34" charset="-122"/>
                <a:cs typeface="Cambria" pitchFamily="34" charset="-120"/>
              </a:rPr>
              <a:t>2</a:t>
            </a:r>
            <a:endParaRPr lang="en-US" sz="3000" dirty="0"/>
          </a:p>
        </p:txBody>
      </p:sp>
      <p:sp>
        <p:nvSpPr>
          <p:cNvPr id="8" name="Text 6"/>
          <p:cNvSpPr/>
          <p:nvPr/>
        </p:nvSpPr>
        <p:spPr>
          <a:xfrm>
            <a:off x="1828800" y="2926080"/>
            <a:ext cx="9509760" cy="1051560"/>
          </a:xfrm>
          <a:prstGeom prst="rect">
            <a:avLst/>
          </a:prstGeom>
          <a:noFill/>
          <a:ln/>
        </p:spPr>
        <p:txBody>
          <a:bodyPr wrap="square" rtlCol="0" anchor="ctr"/>
          <a:lstStyle/>
          <a:p>
            <a:pPr marL="0" indent="0">
              <a:buNone/>
            </a:pPr>
            <a:r>
              <a:rPr lang="en-US" sz="1700" dirty="0">
                <a:solidFill>
                  <a:srgbClr val="1A1A1A"/>
                </a:solidFill>
                <a:latin typeface="Calibri" pitchFamily="34" charset="0"/>
                <a:ea typeface="Calibri" pitchFamily="34" charset="-122"/>
                <a:cs typeface="Calibri" pitchFamily="34" charset="-120"/>
              </a:rPr>
              <a:t>Improve vehicle theft prevention programs</a:t>
            </a:r>
            <a:endParaRPr lang="en-US" sz="1700" dirty="0"/>
          </a:p>
        </p:txBody>
      </p:sp>
      <p:sp>
        <p:nvSpPr>
          <p:cNvPr id="9" name="Shape 7"/>
          <p:cNvSpPr/>
          <p:nvPr/>
        </p:nvSpPr>
        <p:spPr>
          <a:xfrm>
            <a:off x="640080" y="4206240"/>
            <a:ext cx="10908792" cy="1051560"/>
          </a:xfrm>
          <a:prstGeom prst="rect">
            <a:avLst/>
          </a:prstGeom>
          <a:solidFill>
            <a:srgbClr val="F4F4F4"/>
          </a:solidFill>
          <a:ln/>
        </p:spPr>
        <p:txBody>
          <a:bodyPr/>
          <a:lstStyle/>
          <a:p>
            <a:endParaRPr lang="en-BH"/>
          </a:p>
        </p:txBody>
      </p:sp>
      <p:sp>
        <p:nvSpPr>
          <p:cNvPr id="10" name="Text 8"/>
          <p:cNvSpPr/>
          <p:nvPr/>
        </p:nvSpPr>
        <p:spPr>
          <a:xfrm>
            <a:off x="868680" y="4206240"/>
            <a:ext cx="822960" cy="1051560"/>
          </a:xfrm>
          <a:prstGeom prst="rect">
            <a:avLst/>
          </a:prstGeom>
          <a:noFill/>
          <a:ln/>
        </p:spPr>
        <p:txBody>
          <a:bodyPr wrap="square" rtlCol="0" anchor="ctr"/>
          <a:lstStyle/>
          <a:p>
            <a:pPr marL="0" indent="0">
              <a:buNone/>
            </a:pPr>
            <a:r>
              <a:rPr lang="en-US" sz="3000" b="1" dirty="0">
                <a:solidFill>
                  <a:srgbClr val="8B0000"/>
                </a:solidFill>
                <a:latin typeface="Cambria" pitchFamily="34" charset="0"/>
                <a:ea typeface="Cambria" pitchFamily="34" charset="-122"/>
                <a:cs typeface="Cambria" pitchFamily="34" charset="-120"/>
              </a:rPr>
              <a:t>3</a:t>
            </a:r>
            <a:endParaRPr lang="en-US" sz="3000" dirty="0"/>
          </a:p>
        </p:txBody>
      </p:sp>
      <p:sp>
        <p:nvSpPr>
          <p:cNvPr id="11" name="Text 9"/>
          <p:cNvSpPr/>
          <p:nvPr/>
        </p:nvSpPr>
        <p:spPr>
          <a:xfrm>
            <a:off x="1828800" y="4206240"/>
            <a:ext cx="9509760" cy="1051560"/>
          </a:xfrm>
          <a:prstGeom prst="rect">
            <a:avLst/>
          </a:prstGeom>
          <a:noFill/>
          <a:ln/>
        </p:spPr>
        <p:txBody>
          <a:bodyPr wrap="square" rtlCol="0" anchor="ctr"/>
          <a:lstStyle/>
          <a:p>
            <a:pPr marL="0" indent="0">
              <a:buNone/>
            </a:pPr>
            <a:r>
              <a:rPr lang="en-US" sz="1700" dirty="0">
                <a:solidFill>
                  <a:srgbClr val="1A1A1A"/>
                </a:solidFill>
                <a:latin typeface="Calibri" pitchFamily="34" charset="0"/>
                <a:ea typeface="Calibri" pitchFamily="34" charset="-122"/>
                <a:cs typeface="Calibri" pitchFamily="34" charset="-120"/>
              </a:rPr>
              <a:t>Increase police presence during nighttime hours</a:t>
            </a:r>
            <a:endParaRPr lang="en-US" sz="1700" dirty="0"/>
          </a:p>
        </p:txBody>
      </p:sp>
      <p:sp>
        <p:nvSpPr>
          <p:cNvPr id="12" name="Shape 10"/>
          <p:cNvSpPr/>
          <p:nvPr/>
        </p:nvSpPr>
        <p:spPr>
          <a:xfrm>
            <a:off x="640080" y="5486400"/>
            <a:ext cx="10908792" cy="1051560"/>
          </a:xfrm>
          <a:prstGeom prst="rect">
            <a:avLst/>
          </a:prstGeom>
          <a:solidFill>
            <a:srgbClr val="F4F4F4"/>
          </a:solidFill>
          <a:ln/>
        </p:spPr>
        <p:txBody>
          <a:bodyPr/>
          <a:lstStyle/>
          <a:p>
            <a:endParaRPr lang="en-BH"/>
          </a:p>
        </p:txBody>
      </p:sp>
      <p:sp>
        <p:nvSpPr>
          <p:cNvPr id="13" name="Text 11"/>
          <p:cNvSpPr/>
          <p:nvPr/>
        </p:nvSpPr>
        <p:spPr>
          <a:xfrm>
            <a:off x="868680" y="5486400"/>
            <a:ext cx="822960" cy="1051560"/>
          </a:xfrm>
          <a:prstGeom prst="rect">
            <a:avLst/>
          </a:prstGeom>
          <a:noFill/>
          <a:ln/>
        </p:spPr>
        <p:txBody>
          <a:bodyPr wrap="square" rtlCol="0" anchor="ctr"/>
          <a:lstStyle/>
          <a:p>
            <a:pPr marL="0" indent="0">
              <a:buNone/>
            </a:pPr>
            <a:r>
              <a:rPr lang="en-US" sz="3000" b="1" dirty="0">
                <a:solidFill>
                  <a:srgbClr val="8B0000"/>
                </a:solidFill>
                <a:latin typeface="Cambria" pitchFamily="34" charset="0"/>
                <a:ea typeface="Cambria" pitchFamily="34" charset="-122"/>
                <a:cs typeface="Cambria" pitchFamily="34" charset="-120"/>
              </a:rPr>
              <a:t>4</a:t>
            </a:r>
            <a:endParaRPr lang="en-US" sz="3000" dirty="0"/>
          </a:p>
        </p:txBody>
      </p:sp>
      <p:sp>
        <p:nvSpPr>
          <p:cNvPr id="14" name="Text 12"/>
          <p:cNvSpPr/>
          <p:nvPr/>
        </p:nvSpPr>
        <p:spPr>
          <a:xfrm>
            <a:off x="1828800" y="5486400"/>
            <a:ext cx="9509760" cy="1051560"/>
          </a:xfrm>
          <a:prstGeom prst="rect">
            <a:avLst/>
          </a:prstGeom>
          <a:noFill/>
          <a:ln/>
        </p:spPr>
        <p:txBody>
          <a:bodyPr wrap="square" rtlCol="0" anchor="ctr"/>
          <a:lstStyle/>
          <a:p>
            <a:pPr marL="0" indent="0">
              <a:buNone/>
            </a:pPr>
            <a:r>
              <a:rPr lang="en-US" sz="1700" dirty="0">
                <a:solidFill>
                  <a:srgbClr val="1A1A1A"/>
                </a:solidFill>
                <a:latin typeface="Calibri" pitchFamily="34" charset="0"/>
                <a:ea typeface="Calibri" pitchFamily="34" charset="-122"/>
                <a:cs typeface="Calibri" pitchFamily="34" charset="-120"/>
              </a:rPr>
              <a:t>Continue monitoring yearly crime trends</a:t>
            </a:r>
            <a:endParaRPr lang="en-US" sz="1700" dirty="0"/>
          </a:p>
        </p:txBody>
      </p:sp>
      <p:sp>
        <p:nvSpPr>
          <p:cNvPr id="15" name="Text 13"/>
          <p:cNvSpPr/>
          <p:nvPr/>
        </p:nvSpPr>
        <p:spPr>
          <a:xfrm>
            <a:off x="11475720" y="6446520"/>
            <a:ext cx="457200" cy="32004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8B0000"/>
          </a:solidFill>
          <a:ln/>
        </p:spPr>
        <p:txBody>
          <a:bodyPr/>
          <a:lstStyle/>
          <a:p>
            <a:endParaRPr lang="en-BH"/>
          </a:p>
        </p:txBody>
      </p:sp>
      <p:sp>
        <p:nvSpPr>
          <p:cNvPr id="3" name="Text 1"/>
          <p:cNvSpPr/>
          <p:nvPr/>
        </p:nvSpPr>
        <p:spPr>
          <a:xfrm>
            <a:off x="1188720" y="1051560"/>
            <a:ext cx="9811512" cy="457200"/>
          </a:xfrm>
          <a:prstGeom prst="rect">
            <a:avLst/>
          </a:prstGeom>
          <a:noFill/>
          <a:ln/>
        </p:spPr>
        <p:txBody>
          <a:bodyPr wrap="square" rtlCol="0" anchor="ctr"/>
          <a:lstStyle/>
          <a:p>
            <a:pPr marL="0" indent="0">
              <a:buNone/>
            </a:pPr>
            <a:r>
              <a:rPr lang="en-US" sz="1500" b="1" kern="0" spc="200" dirty="0">
                <a:solidFill>
                  <a:srgbClr val="FFD6D6"/>
                </a:solidFill>
                <a:latin typeface="Calibri" pitchFamily="34" charset="0"/>
                <a:ea typeface="Calibri" pitchFamily="34" charset="-122"/>
                <a:cs typeface="Calibri" pitchFamily="34" charset="-120"/>
              </a:rPr>
              <a:t>CONCLUSION</a:t>
            </a:r>
            <a:endParaRPr lang="en-US" sz="1500" dirty="0"/>
          </a:p>
        </p:txBody>
      </p:sp>
      <p:sp>
        <p:nvSpPr>
          <p:cNvPr id="4" name="Text 2"/>
          <p:cNvSpPr/>
          <p:nvPr/>
        </p:nvSpPr>
        <p:spPr>
          <a:xfrm>
            <a:off x="1188720" y="1600200"/>
            <a:ext cx="9811512" cy="2377440"/>
          </a:xfrm>
          <a:prstGeom prst="rect">
            <a:avLst/>
          </a:prstGeom>
          <a:noFill/>
          <a:ln/>
        </p:spPr>
        <p:txBody>
          <a:bodyPr wrap="square" rtlCol="0" anchor="t"/>
          <a:lstStyle/>
          <a:p>
            <a:pPr marL="342900" indent="-342900">
              <a:spcAft>
                <a:spcPts val="1600"/>
              </a:spcAft>
              <a:buSzPct val="100000"/>
              <a:buChar char="•"/>
            </a:pPr>
            <a:r>
              <a:rPr lang="en-US" sz="2200" dirty="0">
                <a:solidFill>
                  <a:srgbClr val="FFFFFF"/>
                </a:solidFill>
                <a:latin typeface="Cambria" pitchFamily="34" charset="0"/>
                <a:ea typeface="Cambria" pitchFamily="34" charset="-122"/>
                <a:cs typeface="Cambria" pitchFamily="34" charset="-120"/>
              </a:rPr>
              <a:t>EDA can uncover real crime patterns from over a million records</a:t>
            </a:r>
            <a:endParaRPr lang="en-US" sz="2200" dirty="0"/>
          </a:p>
          <a:p>
            <a:pPr marL="342900" indent="-342900">
              <a:spcAft>
                <a:spcPts val="1600"/>
              </a:spcAft>
              <a:buSzPct val="100000"/>
              <a:buChar char="•"/>
            </a:pPr>
            <a:r>
              <a:rPr lang="en-US" sz="2200" dirty="0">
                <a:solidFill>
                  <a:srgbClr val="FFFFFF"/>
                </a:solidFill>
                <a:latin typeface="Cambria" pitchFamily="34" charset="0"/>
                <a:ea typeface="Cambria" pitchFamily="34" charset="-122"/>
                <a:cs typeface="Cambria" pitchFamily="34" charset="-120"/>
              </a:rPr>
              <a:t>Findings point to clear priorities: Central, nighttime, vehicle crime</a:t>
            </a:r>
            <a:endParaRPr lang="en-US" sz="2200" dirty="0"/>
          </a:p>
          <a:p>
            <a:pPr marL="342900" indent="-342900">
              <a:spcAft>
                <a:spcPts val="1600"/>
              </a:spcAft>
              <a:buSzPct val="100000"/>
              <a:buChar char="•"/>
            </a:pPr>
            <a:r>
              <a:rPr lang="en-US" sz="2200" dirty="0">
                <a:solidFill>
                  <a:srgbClr val="FFFFFF"/>
                </a:solidFill>
                <a:latin typeface="Cambria" pitchFamily="34" charset="0"/>
                <a:ea typeface="Cambria" pitchFamily="34" charset="-122"/>
                <a:cs typeface="Cambria" pitchFamily="34" charset="-120"/>
              </a:rPr>
              <a:t>Data-driven decisions support smarter resource allocation</a:t>
            </a:r>
            <a:endParaRPr lang="en-US" sz="2200" dirty="0"/>
          </a:p>
        </p:txBody>
      </p:sp>
      <p:sp>
        <p:nvSpPr>
          <p:cNvPr id="5" name="Text 3"/>
          <p:cNvSpPr/>
          <p:nvPr/>
        </p:nvSpPr>
        <p:spPr>
          <a:xfrm>
            <a:off x="1188720" y="5394960"/>
            <a:ext cx="5486400" cy="457200"/>
          </a:xfrm>
          <a:prstGeom prst="rect">
            <a:avLst/>
          </a:prstGeom>
          <a:noFill/>
          <a:ln/>
        </p:spPr>
        <p:txBody>
          <a:bodyPr wrap="square" rtlCol="0" anchor="ctr"/>
          <a:lstStyle/>
          <a:p>
            <a:pPr marL="0" indent="0">
              <a:buNone/>
            </a:pPr>
            <a:r>
              <a:rPr lang="en-US" sz="1800" i="1" dirty="0">
                <a:solidFill>
                  <a:srgbClr val="FFD6D6"/>
                </a:solidFill>
                <a:latin typeface="Cambria" pitchFamily="34" charset="0"/>
                <a:ea typeface="Cambria" pitchFamily="34" charset="-122"/>
                <a:cs typeface="Cambria" pitchFamily="34" charset="-120"/>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976</Words>
  <Application>Microsoft Macintosh PowerPoint</Application>
  <PresentationFormat>Widescreen</PresentationFormat>
  <Paragraphs>104</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Fatima Mahmood Awachi</cp:lastModifiedBy>
  <cp:revision>2</cp:revision>
  <dcterms:created xsi:type="dcterms:W3CDTF">2026-07-13T02:58:40Z</dcterms:created>
  <dcterms:modified xsi:type="dcterms:W3CDTF">2026-07-13T06:21:35Z</dcterms:modified>
</cp:coreProperties>
</file>