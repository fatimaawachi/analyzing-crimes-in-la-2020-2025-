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Today I'll be presenting my exploratory data analysis project on crime patterns in Los Angeles between 2020 and 2024. My name is Fatima Awachi, and this project was completed as part of the General Assembly Data Science Bootcamp. The full project is available on my GitHub,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Crime affects public safety and community decision-making every day. This project analyzes LAPD crime incidents from 2020 to 2024, using the date, time, area, and type of each reported crime, with the goal of finding patterns that support better public safety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problem: over one million crime incidents were reported across Los Angeles in this period. With that much data, it's hard to know which crime types, areas, and time periods need the most attention — and without that clarity, public safety planning and resource allocation become much harder. That's where exploratory data analysis comes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tackle this, I framed five guiding questions: what are the most common crime types, which areas have the most crime, how have incidents changed over time, when do crimes happen most, and what crimes are most common in the highest-crime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quick look at the dataset. It contains just over one million crime records with ten variables, covering Los Angeles from 2020 through 2024. There were no missing values and no duplicate records, so the data was clean and ready to analyze.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the top ten reported crime types. Vehicle theft clearly stands out at the top with about 115.5 thousand incidents, followed by battery simple assault and burglary from vehicle.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here are the areas with the most reported crime. Central recorded the highest number of incidents, followed by 77th Street and Pacific.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line chart shows how crime changed year by year. Incidents rose steadily until 2022, stayed high in 2023, then declined in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broke incidents down by time of day. Most crimes were reported at night, followed by the afternoon, with mornings recording the fewest incidents.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took this a step further and looked at seasons. Summer recorded the highest number of crime incidents, while winter recorded the lowest — crime is generally higher during the warmer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since Central had the highest crime rate, I zoomed into that area specifically. Burglary from vehicle was the most common crime there, followed by battery simple assault and vehicle theft — vehicle-related crime clearly dominates in Central.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I analyzed over one million crime incidents. Vehicle theft was the most common crime overall, Central had the highest crime rate, crime peaked in 2022, most incidents happened at night and during summer, and vehicle-related crime was especially common in Central.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Based on these findings, I recommend increasing police patrols in high-crime areas like Central, improving vehicle theft prevention through public awareness, increasing nighttime police presence, and continuing to monitor crime trends. It's worth noting that similar strategies are already used successfully in many major U.S. cities, which supports how practical these recommendations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ahead, next steps include building a live Streamlit dashboard, bringing in full 2025 data once it's available, adding demographic detail, and digging into what's driving that summer spike in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this project showed how exploratory data analysis can uncover meaningful crime patterns and support better public safety planning in Los Angeles. Data-driven decisions like these can help allocate resources more effectively. Thank you — and feel free to check out the full project on my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fatimaawachi/Analyzing-Crimes-in-LA-2020-2025-"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github.com/fatimaawachi/Analyzing-Crimes-in-LA-2020-2025-"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28016"/>
          </a:xfrm>
          <a:prstGeom prst="rect">
            <a:avLst/>
          </a:prstGeom>
          <a:solidFill>
            <a:srgbClr val="8B0000"/>
          </a:solidFill>
          <a:ln/>
        </p:spPr>
      </p:sp>
      <p:sp>
        <p:nvSpPr>
          <p:cNvPr id="3" name="Shape 1"/>
          <p:cNvSpPr/>
          <p:nvPr/>
        </p:nvSpPr>
        <p:spPr>
          <a:xfrm>
            <a:off x="0" y="2880360"/>
            <a:ext cx="12188952" cy="27432"/>
          </a:xfrm>
          <a:prstGeom prst="rect">
            <a:avLst/>
          </a:prstGeom>
          <a:solidFill>
            <a:srgbClr val="8B0000"/>
          </a:solidFill>
          <a:ln/>
        </p:spPr>
      </p:sp>
      <p:sp>
        <p:nvSpPr>
          <p:cNvPr id="4" name="Text 2"/>
          <p:cNvSpPr/>
          <p:nvPr/>
        </p:nvSpPr>
        <p:spPr>
          <a:xfrm>
            <a:off x="822960" y="2148840"/>
            <a:ext cx="10543032" cy="685800"/>
          </a:xfrm>
          <a:prstGeom prst="rect">
            <a:avLst/>
          </a:prstGeom>
          <a:noFill/>
          <a:ln/>
        </p:spPr>
        <p:txBody>
          <a:bodyPr wrap="square"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CRIME ANALYSIS IN LOS ANGELES</a:t>
            </a:r>
            <a:endParaRPr lang="en-US" sz="4000" dirty="0"/>
          </a:p>
        </p:txBody>
      </p:sp>
      <p:sp>
        <p:nvSpPr>
          <p:cNvPr id="5" name="Text 3"/>
          <p:cNvSpPr/>
          <p:nvPr/>
        </p:nvSpPr>
        <p:spPr>
          <a:xfrm>
            <a:off x="822960" y="3063240"/>
            <a:ext cx="10543032" cy="502920"/>
          </a:xfrm>
          <a:prstGeom prst="rect">
            <a:avLst/>
          </a:prstGeom>
          <a:noFill/>
          <a:ln/>
        </p:spPr>
        <p:txBody>
          <a:bodyPr wrap="square" rtlCol="0" anchor="ctr"/>
          <a:lstStyle/>
          <a:p>
            <a:pPr indent="0" marL="0">
              <a:buNone/>
            </a:pPr>
            <a:r>
              <a:rPr lang="en-US" sz="2400" i="1" dirty="0">
                <a:solidFill>
                  <a:srgbClr val="8B0000"/>
                </a:solidFill>
                <a:latin typeface="Cambria" pitchFamily="34" charset="0"/>
                <a:ea typeface="Cambria" pitchFamily="34" charset="-122"/>
                <a:cs typeface="Cambria" pitchFamily="34" charset="-120"/>
              </a:rPr>
              <a:t>2020 – 2024</a:t>
            </a:r>
            <a:endParaRPr lang="en-US" sz="2400" dirty="0"/>
          </a:p>
        </p:txBody>
      </p:sp>
      <p:sp>
        <p:nvSpPr>
          <p:cNvPr id="6" name="Text 4"/>
          <p:cNvSpPr/>
          <p:nvPr/>
        </p:nvSpPr>
        <p:spPr>
          <a:xfrm>
            <a:off x="822960" y="5394960"/>
            <a:ext cx="7315200" cy="365760"/>
          </a:xfrm>
          <a:prstGeom prst="rect">
            <a:avLst/>
          </a:prstGeom>
          <a:noFill/>
          <a:ln/>
        </p:spPr>
        <p:txBody>
          <a:bodyPr wrap="square" rtlCol="0" anchor="ctr"/>
          <a:lstStyle/>
          <a:p>
            <a:pPr indent="0" marL="0">
              <a:buNone/>
            </a:pPr>
            <a:r>
              <a:rPr lang="en-US" sz="1600" b="1" dirty="0">
                <a:solidFill>
                  <a:srgbClr val="1A1A1A"/>
                </a:solidFill>
                <a:latin typeface="Calibri" pitchFamily="34" charset="0"/>
                <a:ea typeface="Calibri" pitchFamily="34" charset="-122"/>
                <a:cs typeface="Calibri" pitchFamily="34" charset="-120"/>
              </a:rPr>
              <a:t>Fatima Awachi</a:t>
            </a:r>
            <a:endParaRPr lang="en-US" sz="1600" dirty="0"/>
          </a:p>
        </p:txBody>
      </p:sp>
      <p:sp>
        <p:nvSpPr>
          <p:cNvPr id="7" name="Text 5"/>
          <p:cNvSpPr/>
          <p:nvPr/>
        </p:nvSpPr>
        <p:spPr>
          <a:xfrm>
            <a:off x="822960" y="5742432"/>
            <a:ext cx="7315200" cy="365760"/>
          </a:xfrm>
          <a:prstGeom prst="rect">
            <a:avLst/>
          </a:prstGeom>
          <a:noFill/>
          <a:ln/>
        </p:spPr>
        <p:txBody>
          <a:bodyPr wrap="square" rtlCol="0" anchor="ctr"/>
          <a:lstStyle/>
          <a:p>
            <a:pPr indent="0" marL="0">
              <a:buNone/>
            </a:pPr>
            <a:r>
              <a:rPr lang="en-US" sz="1300" dirty="0">
                <a:solidFill>
                  <a:srgbClr val="5A5A5A"/>
                </a:solidFill>
                <a:latin typeface="Calibri" pitchFamily="34" charset="0"/>
                <a:ea typeface="Calibri" pitchFamily="34" charset="-122"/>
                <a:cs typeface="Calibri" pitchFamily="34" charset="-120"/>
              </a:rPr>
              <a:t>General Assembly — Data Science Bootcamp</a:t>
            </a:r>
            <a:endParaRPr lang="en-US" sz="1300" dirty="0"/>
          </a:p>
        </p:txBody>
      </p:sp>
      <p:sp>
        <p:nvSpPr>
          <p:cNvPr id="8" name="Text 6">
            <a:hlinkClick r:id="rId1" tooltip="View project on GitHub"/>
          </p:cNvPr>
          <p:cNvSpPr/>
          <p:nvPr/>
        </p:nvSpPr>
        <p:spPr>
          <a:xfrm>
            <a:off x="822960" y="6080760"/>
            <a:ext cx="7315200" cy="320040"/>
          </a:xfrm>
          <a:prstGeom prst="rect">
            <a:avLst/>
          </a:prstGeom>
          <a:noFill/>
          <a:ln/>
        </p:spPr>
        <p:txBody>
          <a:bodyPr wrap="square" rtlCol="0" anchor="ctr"/>
          <a:lstStyle/>
          <a:p>
            <a:pPr indent="0" marL="0">
              <a:buNone/>
            </a:pPr>
            <a:r>
              <a:rPr lang="en-US" sz="1200" u="sng" dirty="0">
                <a:solidFill>
                  <a:srgbClr val="8B0000"/>
                </a:solidFill>
                <a:latin typeface="Calibri" pitchFamily="34" charset="0"/>
                <a:ea typeface="Calibri" pitchFamily="34" charset="-122"/>
                <a:cs typeface="Calibri" pitchFamily="34" charset="-120"/>
                <a:hlinkClick r:id="rId1" invalidUrl="" action="" tgtFrame="" tooltip="View project on GitHub" history="1" highlightClick="0" endSnd="0">
                  <a:extLst>
                    <a:ext uri="{A12FA001-AC4F-418D-AE19-62706E023703}">
                      <ahyp:hlinkClr xmlns:ahyp="http://schemas.microsoft.com/office/drawing/2018/hyperlinkcolor" val="tx"/>
                    </a:ext>
                  </a:extLst>
                </a:hlinkClick>
              </a:rPr>
              <a:t>GitHub Repository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28016"/>
          </a:xfrm>
          <a:prstGeom prst="rect">
            <a:avLst/>
          </a:prstGeom>
          <a:solidFill>
            <a:srgbClr val="8B0000"/>
          </a:solidFill>
          <a:ln/>
        </p:spPr>
      </p:sp>
      <p:sp>
        <p:nvSpPr>
          <p:cNvPr id="3" name="Text 1"/>
          <p:cNvSpPr/>
          <p:nvPr/>
        </p:nvSpPr>
        <p:spPr>
          <a:xfrm>
            <a:off x="640080" y="457200"/>
            <a:ext cx="10881360" cy="64008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Introduction</a:t>
            </a:r>
            <a:endParaRPr lang="en-US" sz="3200" dirty="0"/>
          </a:p>
        </p:txBody>
      </p:sp>
      <p:sp>
        <p:nvSpPr>
          <p:cNvPr id="4" name="Shape 2"/>
          <p:cNvSpPr/>
          <p:nvPr/>
        </p:nvSpPr>
        <p:spPr>
          <a:xfrm>
            <a:off x="658368" y="1133856"/>
            <a:ext cx="822960" cy="54864"/>
          </a:xfrm>
          <a:prstGeom prst="rect">
            <a:avLst/>
          </a:prstGeom>
          <a:solidFill>
            <a:srgbClr val="8B0000"/>
          </a:solidFill>
          <a:ln/>
        </p:spPr>
      </p:sp>
      <p:sp>
        <p:nvSpPr>
          <p:cNvPr id="5" name="Shape 3"/>
          <p:cNvSpPr/>
          <p:nvPr/>
        </p:nvSpPr>
        <p:spPr>
          <a:xfrm>
            <a:off x="640080" y="1463040"/>
            <a:ext cx="10908792" cy="4480560"/>
          </a:xfrm>
          <a:prstGeom prst="rect">
            <a:avLst/>
          </a:prstGeom>
          <a:solidFill>
            <a:srgbClr val="F4F4F4"/>
          </a:solidFill>
          <a:ln/>
        </p:spPr>
      </p:sp>
      <p:sp>
        <p:nvSpPr>
          <p:cNvPr id="6" name="Text 4"/>
          <p:cNvSpPr/>
          <p:nvPr/>
        </p:nvSpPr>
        <p:spPr>
          <a:xfrm>
            <a:off x="1005840" y="1828800"/>
            <a:ext cx="10177272" cy="3657600"/>
          </a:xfrm>
          <a:prstGeom prst="rect">
            <a:avLst/>
          </a:prstGeom>
          <a:noFill/>
          <a:ln/>
        </p:spPr>
        <p:txBody>
          <a:bodyPr wrap="square" rtlCol="0" anchor="t"/>
          <a:lstStyle/>
          <a:p>
            <a:pPr marL="342900" indent="-342900">
              <a:lnSpc>
                <a:spcPct val="115000"/>
              </a:lnSpc>
              <a:spcAft>
                <a:spcPts val="2200"/>
              </a:spcAft>
              <a:buSzPct val="100000"/>
              <a:buChar char="•"/>
            </a:pPr>
            <a:r>
              <a:rPr lang="en-US" sz="1900" dirty="0">
                <a:solidFill>
                  <a:srgbClr val="1A1A1A"/>
                </a:solidFill>
                <a:latin typeface="Calibri" pitchFamily="34" charset="0"/>
                <a:ea typeface="Calibri" pitchFamily="34" charset="-122"/>
                <a:cs typeface="Calibri" pitchFamily="34" charset="-120"/>
              </a:rPr>
              <a:t>Crime affects communities, public safety, and decision-making every day</a:t>
            </a:r>
            <a:endParaRPr lang="en-US" sz="1900" dirty="0"/>
          </a:p>
          <a:p>
            <a:pPr marL="342900" indent="-342900">
              <a:lnSpc>
                <a:spcPct val="115000"/>
              </a:lnSpc>
              <a:spcAft>
                <a:spcPts val="2200"/>
              </a:spcAft>
              <a:buSzPct val="100000"/>
              <a:buChar char="•"/>
            </a:pPr>
            <a:r>
              <a:rPr lang="en-US" sz="1900" dirty="0">
                <a:solidFill>
                  <a:srgbClr val="1A1A1A"/>
                </a:solidFill>
                <a:latin typeface="Calibri" pitchFamily="34" charset="0"/>
                <a:ea typeface="Calibri" pitchFamily="34" charset="-122"/>
                <a:cs typeface="Calibri" pitchFamily="34" charset="-120"/>
              </a:rPr>
              <a:t>This project analyzes crime incidents reported by the LAPD between 2020 and 2024</a:t>
            </a:r>
            <a:endParaRPr lang="en-US" sz="1900" dirty="0"/>
          </a:p>
          <a:p>
            <a:pPr marL="342900" indent="-342900">
              <a:lnSpc>
                <a:spcPct val="115000"/>
              </a:lnSpc>
              <a:spcAft>
                <a:spcPts val="2200"/>
              </a:spcAft>
              <a:buSzPct val="100000"/>
              <a:buChar char="•"/>
            </a:pPr>
            <a:r>
              <a:rPr lang="en-US" sz="1900" dirty="0">
                <a:solidFill>
                  <a:srgbClr val="1A1A1A"/>
                </a:solidFill>
                <a:latin typeface="Calibri" pitchFamily="34" charset="0"/>
                <a:ea typeface="Calibri" pitchFamily="34" charset="-122"/>
                <a:cs typeface="Calibri" pitchFamily="34" charset="-120"/>
              </a:rPr>
              <a:t>The dataset includes the date, time, area, and type of each reported crime</a:t>
            </a:r>
            <a:endParaRPr lang="en-US" sz="1900" dirty="0"/>
          </a:p>
          <a:p>
            <a:pPr marL="342900" indent="-342900">
              <a:lnSpc>
                <a:spcPct val="115000"/>
              </a:lnSpc>
              <a:spcAft>
                <a:spcPts val="2200"/>
              </a:spcAft>
              <a:buSzPct val="100000"/>
              <a:buChar char="•"/>
            </a:pPr>
            <a:r>
              <a:rPr lang="en-US" sz="1900" dirty="0">
                <a:solidFill>
                  <a:srgbClr val="1A1A1A"/>
                </a:solidFill>
                <a:latin typeface="Calibri" pitchFamily="34" charset="0"/>
                <a:ea typeface="Calibri" pitchFamily="34" charset="-122"/>
                <a:cs typeface="Calibri" pitchFamily="34" charset="-120"/>
              </a:rPr>
              <a:t>Goal: identify crime patterns that support better public safety decisions</a:t>
            </a:r>
            <a:endParaRPr lang="en-US" sz="1900" dirty="0"/>
          </a:p>
        </p:txBody>
      </p:sp>
      <p:sp>
        <p:nvSpPr>
          <p:cNvPr id="7" name="Text 5"/>
          <p:cNvSpPr/>
          <p:nvPr/>
        </p:nvSpPr>
        <p:spPr>
          <a:xfrm>
            <a:off x="11475720" y="6446520"/>
            <a:ext cx="457200" cy="320040"/>
          </a:xfrm>
          <a:prstGeom prst="rect">
            <a:avLst/>
          </a:prstGeom>
          <a:noFill/>
          <a:ln/>
        </p:spPr>
        <p:txBody>
          <a:bodyPr wrap="square" rtlCol="0" anchor="ctr"/>
          <a:lstStyle/>
          <a:p>
            <a:pPr algn="r" indent="0" marL="0">
              <a:buNone/>
            </a:pPr>
            <a:r>
              <a:rPr lang="en-US" sz="1000" dirty="0">
                <a:solidFill>
                  <a:srgbClr val="AAAAA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28016"/>
          </a:xfrm>
          <a:prstGeom prst="rect">
            <a:avLst/>
          </a:prstGeom>
          <a:solidFill>
            <a:srgbClr val="8B0000"/>
          </a:solidFill>
          <a:ln/>
        </p:spPr>
      </p:sp>
      <p:sp>
        <p:nvSpPr>
          <p:cNvPr id="3" name="Text 1"/>
          <p:cNvSpPr/>
          <p:nvPr/>
        </p:nvSpPr>
        <p:spPr>
          <a:xfrm>
            <a:off x="640080" y="457200"/>
            <a:ext cx="10881360" cy="64008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Problem Statement</a:t>
            </a:r>
            <a:endParaRPr lang="en-US" sz="3200" dirty="0"/>
          </a:p>
        </p:txBody>
      </p:sp>
      <p:sp>
        <p:nvSpPr>
          <p:cNvPr id="4" name="Shape 2"/>
          <p:cNvSpPr/>
          <p:nvPr/>
        </p:nvSpPr>
        <p:spPr>
          <a:xfrm>
            <a:off x="658368" y="1133856"/>
            <a:ext cx="822960" cy="54864"/>
          </a:xfrm>
          <a:prstGeom prst="rect">
            <a:avLst/>
          </a:prstGeom>
          <a:solidFill>
            <a:srgbClr val="8B0000"/>
          </a:solidFill>
          <a:ln/>
        </p:spPr>
      </p:sp>
      <p:sp>
        <p:nvSpPr>
          <p:cNvPr id="5" name="Shape 3"/>
          <p:cNvSpPr/>
          <p:nvPr/>
        </p:nvSpPr>
        <p:spPr>
          <a:xfrm>
            <a:off x="640080" y="1463040"/>
            <a:ext cx="3566160" cy="1828800"/>
          </a:xfrm>
          <a:prstGeom prst="rect">
            <a:avLst/>
          </a:prstGeom>
          <a:solidFill>
            <a:srgbClr val="8B0000"/>
          </a:solidFill>
          <a:ln/>
        </p:spPr>
      </p:sp>
      <p:sp>
        <p:nvSpPr>
          <p:cNvPr id="6" name="Text 4"/>
          <p:cNvSpPr/>
          <p:nvPr/>
        </p:nvSpPr>
        <p:spPr>
          <a:xfrm>
            <a:off x="640080" y="1600200"/>
            <a:ext cx="3566160" cy="822960"/>
          </a:xfrm>
          <a:prstGeom prst="rect">
            <a:avLst/>
          </a:prstGeom>
          <a:noFill/>
          <a:ln/>
        </p:spPr>
        <p:txBody>
          <a:bodyPr wrap="square"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1,004,904</a:t>
            </a:r>
            <a:endParaRPr lang="en-US" sz="3200" dirty="0"/>
          </a:p>
        </p:txBody>
      </p:sp>
      <p:sp>
        <p:nvSpPr>
          <p:cNvPr id="7" name="Text 5"/>
          <p:cNvSpPr/>
          <p:nvPr/>
        </p:nvSpPr>
        <p:spPr>
          <a:xfrm>
            <a:off x="640080" y="2423160"/>
            <a:ext cx="3566160" cy="548640"/>
          </a:xfrm>
          <a:prstGeom prst="rect">
            <a:avLst/>
          </a:prstGeom>
          <a:noFill/>
          <a:ln/>
        </p:spPr>
        <p:txBody>
          <a:bodyPr wrap="square" rtlCol="0" anchor="ctr"/>
          <a:lstStyle/>
          <a:p>
            <a:pPr algn="ctr" indent="0" marL="0">
              <a:buNone/>
            </a:pPr>
            <a:r>
              <a:rPr lang="en-US" sz="1250" spc="100" kern="0" dirty="0">
                <a:solidFill>
                  <a:srgbClr val="FFD6D6"/>
                </a:solidFill>
                <a:latin typeface="Calibri" pitchFamily="34" charset="0"/>
                <a:ea typeface="Calibri" pitchFamily="34" charset="-122"/>
                <a:cs typeface="Calibri" pitchFamily="34" charset="-120"/>
              </a:rPr>
              <a:t>CRIME INCIDENTS — LA, 2020–2024</a:t>
            </a:r>
            <a:endParaRPr lang="en-US" sz="1250" dirty="0"/>
          </a:p>
        </p:txBody>
      </p:sp>
      <p:sp>
        <p:nvSpPr>
          <p:cNvPr id="8" name="Text 6"/>
          <p:cNvSpPr/>
          <p:nvPr/>
        </p:nvSpPr>
        <p:spPr>
          <a:xfrm>
            <a:off x="4526280" y="1508760"/>
            <a:ext cx="7040880" cy="3566160"/>
          </a:xfrm>
          <a:prstGeom prst="rect">
            <a:avLst/>
          </a:prstGeom>
          <a:noFill/>
          <a:ln/>
        </p:spPr>
        <p:txBody>
          <a:bodyPr wrap="square" rtlCol="0" anchor="t"/>
          <a:lstStyle/>
          <a:p>
            <a:pPr marL="342900" indent="-342900">
              <a:lnSpc>
                <a:spcPct val="115000"/>
              </a:lnSpc>
              <a:spcAft>
                <a:spcPts val="1800"/>
              </a:spcAft>
              <a:buSzPct val="100000"/>
              <a:buChar char="•"/>
            </a:pPr>
            <a:r>
              <a:rPr lang="en-US" sz="1700" dirty="0">
                <a:solidFill>
                  <a:srgbClr val="1A1A1A"/>
                </a:solidFill>
                <a:latin typeface="Calibri" pitchFamily="34" charset="0"/>
                <a:ea typeface="Calibri" pitchFamily="34" charset="-122"/>
                <a:cs typeface="Calibri" pitchFamily="34" charset="-120"/>
              </a:rPr>
              <a:t>With this much data, it's difficult to pinpoint which crime types, areas, and time periods need the most attention</a:t>
            </a:r>
            <a:endParaRPr lang="en-US" sz="1700" dirty="0"/>
          </a:p>
          <a:p>
            <a:pPr marL="342900" indent="-342900">
              <a:lnSpc>
                <a:spcPct val="115000"/>
              </a:lnSpc>
              <a:spcAft>
                <a:spcPts val="1800"/>
              </a:spcAft>
              <a:buSzPct val="100000"/>
              <a:buChar char="•"/>
            </a:pPr>
            <a:r>
              <a:rPr lang="en-US" sz="1700" dirty="0">
                <a:solidFill>
                  <a:srgbClr val="1A1A1A"/>
                </a:solidFill>
                <a:latin typeface="Calibri" pitchFamily="34" charset="0"/>
                <a:ea typeface="Calibri" pitchFamily="34" charset="-122"/>
                <a:cs typeface="Calibri" pitchFamily="34" charset="-120"/>
              </a:rPr>
              <a:t>Without clear patterns, public safety planning and resource allocation become harder</a:t>
            </a:r>
            <a:endParaRPr lang="en-US" sz="1700" dirty="0"/>
          </a:p>
          <a:p>
            <a:pPr marL="342900" indent="-342900">
              <a:lnSpc>
                <a:spcPct val="115000"/>
              </a:lnSpc>
              <a:spcAft>
                <a:spcPts val="1800"/>
              </a:spcAft>
              <a:buSzPct val="100000"/>
              <a:buChar char="•"/>
            </a:pPr>
            <a:r>
              <a:rPr lang="en-US" sz="1700" dirty="0">
                <a:solidFill>
                  <a:srgbClr val="1A1A1A"/>
                </a:solidFill>
                <a:latin typeface="Calibri" pitchFamily="34" charset="0"/>
                <a:ea typeface="Calibri" pitchFamily="34" charset="-122"/>
                <a:cs typeface="Calibri" pitchFamily="34" charset="-120"/>
              </a:rPr>
              <a:t>This project uses Exploratory Data Analysis (EDA) to uncover these patterns and support data-driven decisions</a:t>
            </a:r>
            <a:endParaRPr lang="en-US" sz="1700" dirty="0"/>
          </a:p>
        </p:txBody>
      </p:sp>
      <p:sp>
        <p:nvSpPr>
          <p:cNvPr id="9" name="Text 7"/>
          <p:cNvSpPr/>
          <p:nvPr/>
        </p:nvSpPr>
        <p:spPr>
          <a:xfrm>
            <a:off x="11475720" y="6446520"/>
            <a:ext cx="457200" cy="320040"/>
          </a:xfrm>
          <a:prstGeom prst="rect">
            <a:avLst/>
          </a:prstGeom>
          <a:noFill/>
          <a:ln/>
        </p:spPr>
        <p:txBody>
          <a:bodyPr wrap="square" rtlCol="0" anchor="ctr"/>
          <a:lstStyle/>
          <a:p>
            <a:pPr algn="r" indent="0" marL="0">
              <a:buNone/>
            </a:pPr>
            <a:r>
              <a:rPr lang="en-US" sz="1000" dirty="0">
                <a:solidFill>
                  <a:srgbClr val="AAAAA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28016"/>
          </a:xfrm>
          <a:prstGeom prst="rect">
            <a:avLst/>
          </a:prstGeom>
          <a:solidFill>
            <a:srgbClr val="8B0000"/>
          </a:solidFill>
          <a:ln/>
        </p:spPr>
      </p:sp>
      <p:sp>
        <p:nvSpPr>
          <p:cNvPr id="3" name="Text 1"/>
          <p:cNvSpPr/>
          <p:nvPr/>
        </p:nvSpPr>
        <p:spPr>
          <a:xfrm>
            <a:off x="640080" y="457200"/>
            <a:ext cx="10881360" cy="64008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Objectives</a:t>
            </a:r>
            <a:endParaRPr lang="en-US" sz="3200" dirty="0"/>
          </a:p>
        </p:txBody>
      </p:sp>
      <p:sp>
        <p:nvSpPr>
          <p:cNvPr id="4" name="Shape 2"/>
          <p:cNvSpPr/>
          <p:nvPr/>
        </p:nvSpPr>
        <p:spPr>
          <a:xfrm>
            <a:off x="658368" y="1133856"/>
            <a:ext cx="822960" cy="54864"/>
          </a:xfrm>
          <a:prstGeom prst="rect">
            <a:avLst/>
          </a:prstGeom>
          <a:solidFill>
            <a:srgbClr val="8B0000"/>
          </a:solidFill>
          <a:ln/>
        </p:spPr>
      </p:sp>
      <p:sp>
        <p:nvSpPr>
          <p:cNvPr id="5" name="Text 3"/>
          <p:cNvSpPr/>
          <p:nvPr/>
        </p:nvSpPr>
        <p:spPr>
          <a:xfrm>
            <a:off x="640080" y="1234440"/>
            <a:ext cx="10881360" cy="365760"/>
          </a:xfrm>
          <a:prstGeom prst="rect">
            <a:avLst/>
          </a:prstGeom>
          <a:noFill/>
          <a:ln/>
        </p:spPr>
        <p:txBody>
          <a:bodyPr wrap="square" rtlCol="0" anchor="ctr"/>
          <a:lstStyle/>
          <a:p>
            <a:pPr indent="0" marL="0">
              <a:buNone/>
            </a:pPr>
            <a:r>
              <a:rPr lang="en-US" sz="1400" i="1" dirty="0">
                <a:solidFill>
                  <a:srgbClr val="5A5A5A"/>
                </a:solidFill>
                <a:latin typeface="Calibri" pitchFamily="34" charset="0"/>
                <a:ea typeface="Calibri" pitchFamily="34" charset="-122"/>
                <a:cs typeface="Calibri" pitchFamily="34" charset="-120"/>
              </a:rPr>
              <a:t>Questions guiding this analysis:</a:t>
            </a:r>
            <a:endParaRPr lang="en-US" sz="1400" dirty="0"/>
          </a:p>
        </p:txBody>
      </p:sp>
      <p:sp>
        <p:nvSpPr>
          <p:cNvPr id="6" name="Shape 4"/>
          <p:cNvSpPr/>
          <p:nvPr/>
        </p:nvSpPr>
        <p:spPr>
          <a:xfrm>
            <a:off x="640080" y="1783080"/>
            <a:ext cx="10908792" cy="841248"/>
          </a:xfrm>
          <a:prstGeom prst="rect">
            <a:avLst/>
          </a:prstGeom>
          <a:solidFill>
            <a:srgbClr val="F4F4F4"/>
          </a:solidFill>
          <a:ln/>
        </p:spPr>
      </p:sp>
      <p:sp>
        <p:nvSpPr>
          <p:cNvPr id="7" name="Text 5"/>
          <p:cNvSpPr/>
          <p:nvPr/>
        </p:nvSpPr>
        <p:spPr>
          <a:xfrm>
            <a:off x="868680" y="1783080"/>
            <a:ext cx="640080" cy="841248"/>
          </a:xfrm>
          <a:prstGeom prst="rect">
            <a:avLst/>
          </a:prstGeom>
          <a:noFill/>
          <a:ln/>
        </p:spPr>
        <p:txBody>
          <a:bodyPr wrap="square" rtlCol="0" anchor="ctr"/>
          <a:lstStyle/>
          <a:p>
            <a:pPr indent="0" marL="0">
              <a:buNone/>
            </a:pPr>
            <a:r>
              <a:rPr lang="en-US" sz="2400" b="1" dirty="0">
                <a:solidFill>
                  <a:srgbClr val="8B0000"/>
                </a:solidFill>
                <a:latin typeface="Cambria" pitchFamily="34" charset="0"/>
                <a:ea typeface="Cambria" pitchFamily="34" charset="-122"/>
                <a:cs typeface="Cambria" pitchFamily="34" charset="-120"/>
              </a:rPr>
              <a:t>1</a:t>
            </a:r>
            <a:endParaRPr lang="en-US" sz="2400" dirty="0"/>
          </a:p>
        </p:txBody>
      </p:sp>
      <p:sp>
        <p:nvSpPr>
          <p:cNvPr id="8" name="Text 6"/>
          <p:cNvSpPr/>
          <p:nvPr/>
        </p:nvSpPr>
        <p:spPr>
          <a:xfrm>
            <a:off x="1600200" y="1783080"/>
            <a:ext cx="9692640" cy="841248"/>
          </a:xfrm>
          <a:prstGeom prst="rect">
            <a:avLst/>
          </a:prstGeom>
          <a:noFill/>
          <a:ln/>
        </p:spPr>
        <p:txBody>
          <a:bodyPr wrap="square" rtlCol="0" anchor="ctr"/>
          <a:lstStyle/>
          <a:p>
            <a:pPr indent="0" marL="0">
              <a:buNone/>
            </a:pPr>
            <a:r>
              <a:rPr lang="en-US" sz="1550" dirty="0">
                <a:solidFill>
                  <a:srgbClr val="1A1A1A"/>
                </a:solidFill>
                <a:latin typeface="Calibri" pitchFamily="34" charset="0"/>
                <a:ea typeface="Calibri" pitchFamily="34" charset="-122"/>
                <a:cs typeface="Calibri" pitchFamily="34" charset="-120"/>
              </a:rPr>
              <a:t>What are the most common types of crimes reported in Los Angeles?</a:t>
            </a:r>
            <a:endParaRPr lang="en-US" sz="1550" dirty="0"/>
          </a:p>
        </p:txBody>
      </p:sp>
      <p:sp>
        <p:nvSpPr>
          <p:cNvPr id="9" name="Shape 7"/>
          <p:cNvSpPr/>
          <p:nvPr/>
        </p:nvSpPr>
        <p:spPr>
          <a:xfrm>
            <a:off x="640080" y="2752344"/>
            <a:ext cx="10908792" cy="841248"/>
          </a:xfrm>
          <a:prstGeom prst="rect">
            <a:avLst/>
          </a:prstGeom>
          <a:solidFill>
            <a:srgbClr val="F4F4F4"/>
          </a:solidFill>
          <a:ln/>
        </p:spPr>
      </p:sp>
      <p:sp>
        <p:nvSpPr>
          <p:cNvPr id="10" name="Text 8"/>
          <p:cNvSpPr/>
          <p:nvPr/>
        </p:nvSpPr>
        <p:spPr>
          <a:xfrm>
            <a:off x="868680" y="2752344"/>
            <a:ext cx="640080" cy="841248"/>
          </a:xfrm>
          <a:prstGeom prst="rect">
            <a:avLst/>
          </a:prstGeom>
          <a:noFill/>
          <a:ln/>
        </p:spPr>
        <p:txBody>
          <a:bodyPr wrap="square" rtlCol="0" anchor="ctr"/>
          <a:lstStyle/>
          <a:p>
            <a:pPr indent="0" marL="0">
              <a:buNone/>
            </a:pPr>
            <a:r>
              <a:rPr lang="en-US" sz="2400" b="1" dirty="0">
                <a:solidFill>
                  <a:srgbClr val="8B0000"/>
                </a:solidFill>
                <a:latin typeface="Cambria" pitchFamily="34" charset="0"/>
                <a:ea typeface="Cambria" pitchFamily="34" charset="-122"/>
                <a:cs typeface="Cambria" pitchFamily="34" charset="-120"/>
              </a:rPr>
              <a:t>2</a:t>
            </a:r>
            <a:endParaRPr lang="en-US" sz="2400" dirty="0"/>
          </a:p>
        </p:txBody>
      </p:sp>
      <p:sp>
        <p:nvSpPr>
          <p:cNvPr id="11" name="Text 9"/>
          <p:cNvSpPr/>
          <p:nvPr/>
        </p:nvSpPr>
        <p:spPr>
          <a:xfrm>
            <a:off x="1600200" y="2752344"/>
            <a:ext cx="9692640" cy="841248"/>
          </a:xfrm>
          <a:prstGeom prst="rect">
            <a:avLst/>
          </a:prstGeom>
          <a:noFill/>
          <a:ln/>
        </p:spPr>
        <p:txBody>
          <a:bodyPr wrap="square" rtlCol="0" anchor="ctr"/>
          <a:lstStyle/>
          <a:p>
            <a:pPr indent="0" marL="0">
              <a:buNone/>
            </a:pPr>
            <a:r>
              <a:rPr lang="en-US" sz="1550" dirty="0">
                <a:solidFill>
                  <a:srgbClr val="1A1A1A"/>
                </a:solidFill>
                <a:latin typeface="Calibri" pitchFamily="34" charset="0"/>
                <a:ea typeface="Calibri" pitchFamily="34" charset="-122"/>
                <a:cs typeface="Calibri" pitchFamily="34" charset="-120"/>
              </a:rPr>
              <a:t>Which areas recorded the highest number of crime incidents?</a:t>
            </a:r>
            <a:endParaRPr lang="en-US" sz="1550" dirty="0"/>
          </a:p>
        </p:txBody>
      </p:sp>
      <p:sp>
        <p:nvSpPr>
          <p:cNvPr id="12" name="Shape 10"/>
          <p:cNvSpPr/>
          <p:nvPr/>
        </p:nvSpPr>
        <p:spPr>
          <a:xfrm>
            <a:off x="640080" y="3721608"/>
            <a:ext cx="10908792" cy="841248"/>
          </a:xfrm>
          <a:prstGeom prst="rect">
            <a:avLst/>
          </a:prstGeom>
          <a:solidFill>
            <a:srgbClr val="F4F4F4"/>
          </a:solidFill>
          <a:ln/>
        </p:spPr>
      </p:sp>
      <p:sp>
        <p:nvSpPr>
          <p:cNvPr id="13" name="Text 11"/>
          <p:cNvSpPr/>
          <p:nvPr/>
        </p:nvSpPr>
        <p:spPr>
          <a:xfrm>
            <a:off x="868680" y="3721608"/>
            <a:ext cx="640080" cy="841248"/>
          </a:xfrm>
          <a:prstGeom prst="rect">
            <a:avLst/>
          </a:prstGeom>
          <a:noFill/>
          <a:ln/>
        </p:spPr>
        <p:txBody>
          <a:bodyPr wrap="square" rtlCol="0" anchor="ctr"/>
          <a:lstStyle/>
          <a:p>
            <a:pPr indent="0" marL="0">
              <a:buNone/>
            </a:pPr>
            <a:r>
              <a:rPr lang="en-US" sz="2400" b="1" dirty="0">
                <a:solidFill>
                  <a:srgbClr val="8B0000"/>
                </a:solidFill>
                <a:latin typeface="Cambria" pitchFamily="34" charset="0"/>
                <a:ea typeface="Cambria" pitchFamily="34" charset="-122"/>
                <a:cs typeface="Cambria" pitchFamily="34" charset="-120"/>
              </a:rPr>
              <a:t>3</a:t>
            </a:r>
            <a:endParaRPr lang="en-US" sz="2400" dirty="0"/>
          </a:p>
        </p:txBody>
      </p:sp>
      <p:sp>
        <p:nvSpPr>
          <p:cNvPr id="14" name="Text 12"/>
          <p:cNvSpPr/>
          <p:nvPr/>
        </p:nvSpPr>
        <p:spPr>
          <a:xfrm>
            <a:off x="1600200" y="3721608"/>
            <a:ext cx="9692640" cy="841248"/>
          </a:xfrm>
          <a:prstGeom prst="rect">
            <a:avLst/>
          </a:prstGeom>
          <a:noFill/>
          <a:ln/>
        </p:spPr>
        <p:txBody>
          <a:bodyPr wrap="square" rtlCol="0" anchor="ctr"/>
          <a:lstStyle/>
          <a:p>
            <a:pPr indent="0" marL="0">
              <a:buNone/>
            </a:pPr>
            <a:r>
              <a:rPr lang="en-US" sz="1550" dirty="0">
                <a:solidFill>
                  <a:srgbClr val="1A1A1A"/>
                </a:solidFill>
                <a:latin typeface="Calibri" pitchFamily="34" charset="0"/>
                <a:ea typeface="Calibri" pitchFamily="34" charset="-122"/>
                <a:cs typeface="Calibri" pitchFamily="34" charset="-120"/>
              </a:rPr>
              <a:t>How have crime incidents changed between 2020 and 2024?</a:t>
            </a:r>
            <a:endParaRPr lang="en-US" sz="1550" dirty="0"/>
          </a:p>
        </p:txBody>
      </p:sp>
      <p:sp>
        <p:nvSpPr>
          <p:cNvPr id="15" name="Shape 13"/>
          <p:cNvSpPr/>
          <p:nvPr/>
        </p:nvSpPr>
        <p:spPr>
          <a:xfrm>
            <a:off x="640080" y="4690872"/>
            <a:ext cx="10908792" cy="841248"/>
          </a:xfrm>
          <a:prstGeom prst="rect">
            <a:avLst/>
          </a:prstGeom>
          <a:solidFill>
            <a:srgbClr val="F4F4F4"/>
          </a:solidFill>
          <a:ln/>
        </p:spPr>
      </p:sp>
      <p:sp>
        <p:nvSpPr>
          <p:cNvPr id="16" name="Text 14"/>
          <p:cNvSpPr/>
          <p:nvPr/>
        </p:nvSpPr>
        <p:spPr>
          <a:xfrm>
            <a:off x="868680" y="4690872"/>
            <a:ext cx="640080" cy="841248"/>
          </a:xfrm>
          <a:prstGeom prst="rect">
            <a:avLst/>
          </a:prstGeom>
          <a:noFill/>
          <a:ln/>
        </p:spPr>
        <p:txBody>
          <a:bodyPr wrap="square" rtlCol="0" anchor="ctr"/>
          <a:lstStyle/>
          <a:p>
            <a:pPr indent="0" marL="0">
              <a:buNone/>
            </a:pPr>
            <a:r>
              <a:rPr lang="en-US" sz="2400" b="1" dirty="0">
                <a:solidFill>
                  <a:srgbClr val="8B0000"/>
                </a:solidFill>
                <a:latin typeface="Cambria" pitchFamily="34" charset="0"/>
                <a:ea typeface="Cambria" pitchFamily="34" charset="-122"/>
                <a:cs typeface="Cambria" pitchFamily="34" charset="-120"/>
              </a:rPr>
              <a:t>4</a:t>
            </a:r>
            <a:endParaRPr lang="en-US" sz="2400" dirty="0"/>
          </a:p>
        </p:txBody>
      </p:sp>
      <p:sp>
        <p:nvSpPr>
          <p:cNvPr id="17" name="Text 15"/>
          <p:cNvSpPr/>
          <p:nvPr/>
        </p:nvSpPr>
        <p:spPr>
          <a:xfrm>
            <a:off x="1600200" y="4690872"/>
            <a:ext cx="9692640" cy="841248"/>
          </a:xfrm>
          <a:prstGeom prst="rect">
            <a:avLst/>
          </a:prstGeom>
          <a:noFill/>
          <a:ln/>
        </p:spPr>
        <p:txBody>
          <a:bodyPr wrap="square" rtlCol="0" anchor="ctr"/>
          <a:lstStyle/>
          <a:p>
            <a:pPr indent="0" marL="0">
              <a:buNone/>
            </a:pPr>
            <a:r>
              <a:rPr lang="en-US" sz="1550" dirty="0">
                <a:solidFill>
                  <a:srgbClr val="1A1A1A"/>
                </a:solidFill>
                <a:latin typeface="Calibri" pitchFamily="34" charset="0"/>
                <a:ea typeface="Calibri" pitchFamily="34" charset="-122"/>
                <a:cs typeface="Calibri" pitchFamily="34" charset="-120"/>
              </a:rPr>
              <a:t>At what times of day are crimes reported most frequently?</a:t>
            </a:r>
            <a:endParaRPr lang="en-US" sz="1550" dirty="0"/>
          </a:p>
        </p:txBody>
      </p:sp>
      <p:sp>
        <p:nvSpPr>
          <p:cNvPr id="18" name="Shape 16"/>
          <p:cNvSpPr/>
          <p:nvPr/>
        </p:nvSpPr>
        <p:spPr>
          <a:xfrm>
            <a:off x="640080" y="5660136"/>
            <a:ext cx="10908792" cy="841248"/>
          </a:xfrm>
          <a:prstGeom prst="rect">
            <a:avLst/>
          </a:prstGeom>
          <a:solidFill>
            <a:srgbClr val="F4F4F4"/>
          </a:solidFill>
          <a:ln/>
        </p:spPr>
      </p:sp>
      <p:sp>
        <p:nvSpPr>
          <p:cNvPr id="19" name="Text 17"/>
          <p:cNvSpPr/>
          <p:nvPr/>
        </p:nvSpPr>
        <p:spPr>
          <a:xfrm>
            <a:off x="868680" y="5660136"/>
            <a:ext cx="640080" cy="841248"/>
          </a:xfrm>
          <a:prstGeom prst="rect">
            <a:avLst/>
          </a:prstGeom>
          <a:noFill/>
          <a:ln/>
        </p:spPr>
        <p:txBody>
          <a:bodyPr wrap="square" rtlCol="0" anchor="ctr"/>
          <a:lstStyle/>
          <a:p>
            <a:pPr indent="0" marL="0">
              <a:buNone/>
            </a:pPr>
            <a:r>
              <a:rPr lang="en-US" sz="2400" b="1" dirty="0">
                <a:solidFill>
                  <a:srgbClr val="8B0000"/>
                </a:solidFill>
                <a:latin typeface="Cambria" pitchFamily="34" charset="0"/>
                <a:ea typeface="Cambria" pitchFamily="34" charset="-122"/>
                <a:cs typeface="Cambria" pitchFamily="34" charset="-120"/>
              </a:rPr>
              <a:t>5</a:t>
            </a:r>
            <a:endParaRPr lang="en-US" sz="2400" dirty="0"/>
          </a:p>
        </p:txBody>
      </p:sp>
      <p:sp>
        <p:nvSpPr>
          <p:cNvPr id="20" name="Text 18"/>
          <p:cNvSpPr/>
          <p:nvPr/>
        </p:nvSpPr>
        <p:spPr>
          <a:xfrm>
            <a:off x="1600200" y="5660136"/>
            <a:ext cx="9692640" cy="841248"/>
          </a:xfrm>
          <a:prstGeom prst="rect">
            <a:avLst/>
          </a:prstGeom>
          <a:noFill/>
          <a:ln/>
        </p:spPr>
        <p:txBody>
          <a:bodyPr wrap="square" rtlCol="0" anchor="ctr"/>
          <a:lstStyle/>
          <a:p>
            <a:pPr indent="0" marL="0">
              <a:buNone/>
            </a:pPr>
            <a:r>
              <a:rPr lang="en-US" sz="1550" dirty="0">
                <a:solidFill>
                  <a:srgbClr val="1A1A1A"/>
                </a:solidFill>
                <a:latin typeface="Calibri" pitchFamily="34" charset="0"/>
                <a:ea typeface="Calibri" pitchFamily="34" charset="-122"/>
                <a:cs typeface="Calibri" pitchFamily="34" charset="-120"/>
              </a:rPr>
              <a:t>What are the most common crime types within the highest-crime area?</a:t>
            </a:r>
            <a:endParaRPr lang="en-US" sz="1550" dirty="0"/>
          </a:p>
        </p:txBody>
      </p:sp>
      <p:sp>
        <p:nvSpPr>
          <p:cNvPr id="21" name="Text 19"/>
          <p:cNvSpPr/>
          <p:nvPr/>
        </p:nvSpPr>
        <p:spPr>
          <a:xfrm>
            <a:off x="11475720" y="6446520"/>
            <a:ext cx="457200" cy="320040"/>
          </a:xfrm>
          <a:prstGeom prst="rect">
            <a:avLst/>
          </a:prstGeom>
          <a:noFill/>
          <a:ln/>
        </p:spPr>
        <p:txBody>
          <a:bodyPr wrap="square" rtlCol="0" anchor="ctr"/>
          <a:lstStyle/>
          <a:p>
            <a:pPr algn="r" indent="0" marL="0">
              <a:buNone/>
            </a:pPr>
            <a:r>
              <a:rPr lang="en-US" sz="1000" dirty="0">
                <a:solidFill>
                  <a:srgbClr val="AAAAA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28016"/>
          </a:xfrm>
          <a:prstGeom prst="rect">
            <a:avLst/>
          </a:prstGeom>
          <a:solidFill>
            <a:srgbClr val="8B0000"/>
          </a:solidFill>
          <a:ln/>
        </p:spPr>
      </p:sp>
      <p:sp>
        <p:nvSpPr>
          <p:cNvPr id="3" name="Text 1"/>
          <p:cNvSpPr/>
          <p:nvPr/>
        </p:nvSpPr>
        <p:spPr>
          <a:xfrm>
            <a:off x="640080" y="457200"/>
            <a:ext cx="10881360" cy="64008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Dataset Overview</a:t>
            </a:r>
            <a:endParaRPr lang="en-US" sz="3200" dirty="0"/>
          </a:p>
        </p:txBody>
      </p:sp>
      <p:sp>
        <p:nvSpPr>
          <p:cNvPr id="4" name="Shape 2"/>
          <p:cNvSpPr/>
          <p:nvPr/>
        </p:nvSpPr>
        <p:spPr>
          <a:xfrm>
            <a:off x="658368" y="1133856"/>
            <a:ext cx="822960" cy="54864"/>
          </a:xfrm>
          <a:prstGeom prst="rect">
            <a:avLst/>
          </a:prstGeom>
          <a:solidFill>
            <a:srgbClr val="8B0000"/>
          </a:solidFill>
          <a:ln/>
        </p:spPr>
      </p:sp>
      <p:sp>
        <p:nvSpPr>
          <p:cNvPr id="5" name="Text 3"/>
          <p:cNvSpPr/>
          <p:nvPr/>
        </p:nvSpPr>
        <p:spPr>
          <a:xfrm>
            <a:off x="640080" y="1051560"/>
            <a:ext cx="10881360" cy="365760"/>
          </a:xfrm>
          <a:prstGeom prst="rect">
            <a:avLst/>
          </a:prstGeom>
          <a:noFill/>
          <a:ln/>
        </p:spPr>
        <p:txBody>
          <a:bodyPr wrap="square" rtlCol="0" anchor="ctr"/>
          <a:lstStyle/>
          <a:p>
            <a:pPr indent="0" marL="0">
              <a:buNone/>
            </a:pPr>
            <a:r>
              <a:rPr lang="en-US" sz="1500" i="1" dirty="0">
                <a:solidFill>
                  <a:srgbClr val="5A5A5A"/>
                </a:solidFill>
                <a:latin typeface="Calibri" pitchFamily="34" charset="0"/>
                <a:ea typeface="Calibri" pitchFamily="34" charset="-122"/>
                <a:cs typeface="Calibri" pitchFamily="34" charset="-120"/>
              </a:rPr>
              <a:t>LAPD Crime Data, 2020–2024</a:t>
            </a:r>
            <a:endParaRPr lang="en-US" sz="1500" dirty="0"/>
          </a:p>
        </p:txBody>
      </p:sp>
      <p:sp>
        <p:nvSpPr>
          <p:cNvPr id="6" name="Shape 4"/>
          <p:cNvSpPr/>
          <p:nvPr/>
        </p:nvSpPr>
        <p:spPr>
          <a:xfrm>
            <a:off x="630936" y="1965960"/>
            <a:ext cx="3429000" cy="1828800"/>
          </a:xfrm>
          <a:prstGeom prst="rect">
            <a:avLst/>
          </a:prstGeom>
          <a:solidFill>
            <a:srgbClr val="F4F4F4"/>
          </a:solidFill>
          <a:ln/>
        </p:spPr>
      </p:sp>
      <p:sp>
        <p:nvSpPr>
          <p:cNvPr id="7" name="Text 5"/>
          <p:cNvSpPr/>
          <p:nvPr/>
        </p:nvSpPr>
        <p:spPr>
          <a:xfrm>
            <a:off x="630936" y="2194560"/>
            <a:ext cx="3429000" cy="868680"/>
          </a:xfrm>
          <a:prstGeom prst="rect">
            <a:avLst/>
          </a:prstGeom>
          <a:noFill/>
          <a:ln/>
        </p:spPr>
        <p:txBody>
          <a:bodyPr wrap="square" rtlCol="0" anchor="ctr"/>
          <a:lstStyle/>
          <a:p>
            <a:pPr algn="ctr" indent="0" marL="0">
              <a:buNone/>
            </a:pPr>
            <a:r>
              <a:rPr lang="en-US" sz="3000" b="1" dirty="0">
                <a:solidFill>
                  <a:srgbClr val="8B0000"/>
                </a:solidFill>
                <a:latin typeface="Cambria" pitchFamily="34" charset="0"/>
                <a:ea typeface="Cambria" pitchFamily="34" charset="-122"/>
                <a:cs typeface="Cambria" pitchFamily="34" charset="-120"/>
              </a:rPr>
              <a:t>1,004,904</a:t>
            </a:r>
            <a:endParaRPr lang="en-US" sz="3000" dirty="0"/>
          </a:p>
        </p:txBody>
      </p:sp>
      <p:sp>
        <p:nvSpPr>
          <p:cNvPr id="8" name="Text 6"/>
          <p:cNvSpPr/>
          <p:nvPr/>
        </p:nvSpPr>
        <p:spPr>
          <a:xfrm>
            <a:off x="630936" y="3108960"/>
            <a:ext cx="3429000" cy="457200"/>
          </a:xfrm>
          <a:prstGeom prst="rect">
            <a:avLst/>
          </a:prstGeom>
          <a:noFill/>
          <a:ln/>
        </p:spPr>
        <p:txBody>
          <a:bodyPr wrap="square" rtlCol="0" anchor="ctr"/>
          <a:lstStyle/>
          <a:p>
            <a:pPr algn="ctr" indent="0" marL="0">
              <a:buNone/>
            </a:pPr>
            <a:r>
              <a:rPr lang="en-US" sz="1250" spc="100" kern="0" dirty="0">
                <a:solidFill>
                  <a:srgbClr val="1A1A1A"/>
                </a:solidFill>
                <a:latin typeface="Calibri" pitchFamily="34" charset="0"/>
                <a:ea typeface="Calibri" pitchFamily="34" charset="-122"/>
                <a:cs typeface="Calibri" pitchFamily="34" charset="-120"/>
              </a:rPr>
              <a:t>CRIME RECORDS</a:t>
            </a:r>
            <a:endParaRPr lang="en-US" sz="1250" dirty="0"/>
          </a:p>
        </p:txBody>
      </p:sp>
      <p:sp>
        <p:nvSpPr>
          <p:cNvPr id="9" name="Shape 7"/>
          <p:cNvSpPr/>
          <p:nvPr/>
        </p:nvSpPr>
        <p:spPr>
          <a:xfrm>
            <a:off x="4379976" y="1965960"/>
            <a:ext cx="3429000" cy="1828800"/>
          </a:xfrm>
          <a:prstGeom prst="rect">
            <a:avLst/>
          </a:prstGeom>
          <a:solidFill>
            <a:srgbClr val="F4F4F4"/>
          </a:solidFill>
          <a:ln/>
        </p:spPr>
      </p:sp>
      <p:sp>
        <p:nvSpPr>
          <p:cNvPr id="10" name="Text 8"/>
          <p:cNvSpPr/>
          <p:nvPr/>
        </p:nvSpPr>
        <p:spPr>
          <a:xfrm>
            <a:off x="4379976" y="2194560"/>
            <a:ext cx="3429000" cy="868680"/>
          </a:xfrm>
          <a:prstGeom prst="rect">
            <a:avLst/>
          </a:prstGeom>
          <a:noFill/>
          <a:ln/>
        </p:spPr>
        <p:txBody>
          <a:bodyPr wrap="square" rtlCol="0" anchor="ctr"/>
          <a:lstStyle/>
          <a:p>
            <a:pPr algn="ctr" indent="0" marL="0">
              <a:buNone/>
            </a:pPr>
            <a:r>
              <a:rPr lang="en-US" sz="3000" b="1" dirty="0">
                <a:solidFill>
                  <a:srgbClr val="8B0000"/>
                </a:solidFill>
                <a:latin typeface="Cambria" pitchFamily="34" charset="0"/>
                <a:ea typeface="Cambria" pitchFamily="34" charset="-122"/>
                <a:cs typeface="Cambria" pitchFamily="34" charset="-120"/>
              </a:rPr>
              <a:t>10</a:t>
            </a:r>
            <a:endParaRPr lang="en-US" sz="3000" dirty="0"/>
          </a:p>
        </p:txBody>
      </p:sp>
      <p:sp>
        <p:nvSpPr>
          <p:cNvPr id="11" name="Text 9"/>
          <p:cNvSpPr/>
          <p:nvPr/>
        </p:nvSpPr>
        <p:spPr>
          <a:xfrm>
            <a:off x="4379976" y="3108960"/>
            <a:ext cx="3429000" cy="457200"/>
          </a:xfrm>
          <a:prstGeom prst="rect">
            <a:avLst/>
          </a:prstGeom>
          <a:noFill/>
          <a:ln/>
        </p:spPr>
        <p:txBody>
          <a:bodyPr wrap="square" rtlCol="0" anchor="ctr"/>
          <a:lstStyle/>
          <a:p>
            <a:pPr algn="ctr" indent="0" marL="0">
              <a:buNone/>
            </a:pPr>
            <a:r>
              <a:rPr lang="en-US" sz="1250" spc="100" kern="0" dirty="0">
                <a:solidFill>
                  <a:srgbClr val="1A1A1A"/>
                </a:solidFill>
                <a:latin typeface="Calibri" pitchFamily="34" charset="0"/>
                <a:ea typeface="Calibri" pitchFamily="34" charset="-122"/>
                <a:cs typeface="Calibri" pitchFamily="34" charset="-120"/>
              </a:rPr>
              <a:t>VARIABLES</a:t>
            </a:r>
            <a:endParaRPr lang="en-US" sz="1250" dirty="0"/>
          </a:p>
        </p:txBody>
      </p:sp>
      <p:sp>
        <p:nvSpPr>
          <p:cNvPr id="12" name="Shape 10"/>
          <p:cNvSpPr/>
          <p:nvPr/>
        </p:nvSpPr>
        <p:spPr>
          <a:xfrm>
            <a:off x="8129016" y="1965960"/>
            <a:ext cx="3429000" cy="1828800"/>
          </a:xfrm>
          <a:prstGeom prst="rect">
            <a:avLst/>
          </a:prstGeom>
          <a:solidFill>
            <a:srgbClr val="F4F4F4"/>
          </a:solidFill>
          <a:ln/>
        </p:spPr>
      </p:sp>
      <p:sp>
        <p:nvSpPr>
          <p:cNvPr id="13" name="Text 11"/>
          <p:cNvSpPr/>
          <p:nvPr/>
        </p:nvSpPr>
        <p:spPr>
          <a:xfrm>
            <a:off x="8129016" y="2194560"/>
            <a:ext cx="3429000" cy="868680"/>
          </a:xfrm>
          <a:prstGeom prst="rect">
            <a:avLst/>
          </a:prstGeom>
          <a:noFill/>
          <a:ln/>
        </p:spPr>
        <p:txBody>
          <a:bodyPr wrap="square" rtlCol="0" anchor="ctr"/>
          <a:lstStyle/>
          <a:p>
            <a:pPr algn="ctr" indent="0" marL="0">
              <a:buNone/>
            </a:pPr>
            <a:r>
              <a:rPr lang="en-US" sz="3000" b="1" dirty="0">
                <a:solidFill>
                  <a:srgbClr val="8B0000"/>
                </a:solidFill>
                <a:latin typeface="Cambria" pitchFamily="34" charset="0"/>
                <a:ea typeface="Cambria" pitchFamily="34" charset="-122"/>
                <a:cs typeface="Cambria" pitchFamily="34" charset="-120"/>
              </a:rPr>
              <a:t>2020–2024</a:t>
            </a:r>
            <a:endParaRPr lang="en-US" sz="3000" dirty="0"/>
          </a:p>
        </p:txBody>
      </p:sp>
      <p:sp>
        <p:nvSpPr>
          <p:cNvPr id="14" name="Text 12"/>
          <p:cNvSpPr/>
          <p:nvPr/>
        </p:nvSpPr>
        <p:spPr>
          <a:xfrm>
            <a:off x="8129016" y="3108960"/>
            <a:ext cx="3429000" cy="457200"/>
          </a:xfrm>
          <a:prstGeom prst="rect">
            <a:avLst/>
          </a:prstGeom>
          <a:noFill/>
          <a:ln/>
        </p:spPr>
        <p:txBody>
          <a:bodyPr wrap="square" rtlCol="0" anchor="ctr"/>
          <a:lstStyle/>
          <a:p>
            <a:pPr algn="ctr" indent="0" marL="0">
              <a:buNone/>
            </a:pPr>
            <a:r>
              <a:rPr lang="en-US" sz="1250" spc="100" kern="0" dirty="0">
                <a:solidFill>
                  <a:srgbClr val="1A1A1A"/>
                </a:solidFill>
                <a:latin typeface="Calibri" pitchFamily="34" charset="0"/>
                <a:ea typeface="Calibri" pitchFamily="34" charset="-122"/>
                <a:cs typeface="Calibri" pitchFamily="34" charset="-120"/>
              </a:rPr>
              <a:t>TIME COVERAGE</a:t>
            </a:r>
            <a:endParaRPr lang="en-US" sz="1250" dirty="0"/>
          </a:p>
        </p:txBody>
      </p:sp>
      <p:sp>
        <p:nvSpPr>
          <p:cNvPr id="15" name="Shape 13"/>
          <p:cNvSpPr/>
          <p:nvPr/>
        </p:nvSpPr>
        <p:spPr>
          <a:xfrm>
            <a:off x="630936" y="4114800"/>
            <a:ext cx="3429000" cy="1828800"/>
          </a:xfrm>
          <a:prstGeom prst="rect">
            <a:avLst/>
          </a:prstGeom>
          <a:solidFill>
            <a:srgbClr val="F4F4F4"/>
          </a:solidFill>
          <a:ln/>
        </p:spPr>
      </p:sp>
      <p:sp>
        <p:nvSpPr>
          <p:cNvPr id="16" name="Text 14"/>
          <p:cNvSpPr/>
          <p:nvPr/>
        </p:nvSpPr>
        <p:spPr>
          <a:xfrm>
            <a:off x="630936" y="4343400"/>
            <a:ext cx="3429000" cy="868680"/>
          </a:xfrm>
          <a:prstGeom prst="rect">
            <a:avLst/>
          </a:prstGeom>
          <a:noFill/>
          <a:ln/>
        </p:spPr>
        <p:txBody>
          <a:bodyPr wrap="square" rtlCol="0" anchor="ctr"/>
          <a:lstStyle/>
          <a:p>
            <a:pPr algn="ctr" indent="0" marL="0">
              <a:buNone/>
            </a:pPr>
            <a:r>
              <a:rPr lang="en-US" sz="3000" b="1" dirty="0">
                <a:solidFill>
                  <a:srgbClr val="8B0000"/>
                </a:solidFill>
                <a:latin typeface="Cambria" pitchFamily="34" charset="0"/>
                <a:ea typeface="Cambria" pitchFamily="34" charset="-122"/>
                <a:cs typeface="Cambria" pitchFamily="34" charset="-120"/>
              </a:rPr>
              <a:t>Los Angeles</a:t>
            </a:r>
            <a:endParaRPr lang="en-US" sz="3000" dirty="0"/>
          </a:p>
        </p:txBody>
      </p:sp>
      <p:sp>
        <p:nvSpPr>
          <p:cNvPr id="17" name="Text 15"/>
          <p:cNvSpPr/>
          <p:nvPr/>
        </p:nvSpPr>
        <p:spPr>
          <a:xfrm>
            <a:off x="630936" y="5257800"/>
            <a:ext cx="3429000" cy="457200"/>
          </a:xfrm>
          <a:prstGeom prst="rect">
            <a:avLst/>
          </a:prstGeom>
          <a:noFill/>
          <a:ln/>
        </p:spPr>
        <p:txBody>
          <a:bodyPr wrap="square" rtlCol="0" anchor="ctr"/>
          <a:lstStyle/>
          <a:p>
            <a:pPr algn="ctr" indent="0" marL="0">
              <a:buNone/>
            </a:pPr>
            <a:r>
              <a:rPr lang="en-US" sz="1250" spc="100" kern="0" dirty="0">
                <a:solidFill>
                  <a:srgbClr val="1A1A1A"/>
                </a:solidFill>
                <a:latin typeface="Calibri" pitchFamily="34" charset="0"/>
                <a:ea typeface="Calibri" pitchFamily="34" charset="-122"/>
                <a:cs typeface="Calibri" pitchFamily="34" charset="-120"/>
              </a:rPr>
              <a:t>LOCATION</a:t>
            </a:r>
            <a:endParaRPr lang="en-US" sz="1250" dirty="0"/>
          </a:p>
        </p:txBody>
      </p:sp>
      <p:sp>
        <p:nvSpPr>
          <p:cNvPr id="18" name="Shape 16"/>
          <p:cNvSpPr/>
          <p:nvPr/>
        </p:nvSpPr>
        <p:spPr>
          <a:xfrm>
            <a:off x="4379976" y="4114800"/>
            <a:ext cx="3429000" cy="1828800"/>
          </a:xfrm>
          <a:prstGeom prst="rect">
            <a:avLst/>
          </a:prstGeom>
          <a:solidFill>
            <a:srgbClr val="F4F4F4"/>
          </a:solidFill>
          <a:ln/>
        </p:spPr>
      </p:sp>
      <p:sp>
        <p:nvSpPr>
          <p:cNvPr id="19" name="Text 17"/>
          <p:cNvSpPr/>
          <p:nvPr/>
        </p:nvSpPr>
        <p:spPr>
          <a:xfrm>
            <a:off x="4379976" y="4343400"/>
            <a:ext cx="3429000" cy="868680"/>
          </a:xfrm>
          <a:prstGeom prst="rect">
            <a:avLst/>
          </a:prstGeom>
          <a:noFill/>
          <a:ln/>
        </p:spPr>
        <p:txBody>
          <a:bodyPr wrap="square" rtlCol="0" anchor="ctr"/>
          <a:lstStyle/>
          <a:p>
            <a:pPr algn="ctr" indent="0" marL="0">
              <a:buNone/>
            </a:pPr>
            <a:r>
              <a:rPr lang="en-US" sz="3000" b="1" dirty="0">
                <a:solidFill>
                  <a:srgbClr val="8B0000"/>
                </a:solidFill>
                <a:latin typeface="Cambria" pitchFamily="34" charset="0"/>
                <a:ea typeface="Cambria" pitchFamily="34" charset="-122"/>
                <a:cs typeface="Cambria" pitchFamily="34" charset="-120"/>
              </a:rPr>
              <a:t>0</a:t>
            </a:r>
            <a:endParaRPr lang="en-US" sz="3000" dirty="0"/>
          </a:p>
        </p:txBody>
      </p:sp>
      <p:sp>
        <p:nvSpPr>
          <p:cNvPr id="20" name="Text 18"/>
          <p:cNvSpPr/>
          <p:nvPr/>
        </p:nvSpPr>
        <p:spPr>
          <a:xfrm>
            <a:off x="4379976" y="5257800"/>
            <a:ext cx="3429000" cy="457200"/>
          </a:xfrm>
          <a:prstGeom prst="rect">
            <a:avLst/>
          </a:prstGeom>
          <a:noFill/>
          <a:ln/>
        </p:spPr>
        <p:txBody>
          <a:bodyPr wrap="square" rtlCol="0" anchor="ctr"/>
          <a:lstStyle/>
          <a:p>
            <a:pPr algn="ctr" indent="0" marL="0">
              <a:buNone/>
            </a:pPr>
            <a:r>
              <a:rPr lang="en-US" sz="1250" spc="100" kern="0" dirty="0">
                <a:solidFill>
                  <a:srgbClr val="1A1A1A"/>
                </a:solidFill>
                <a:latin typeface="Calibri" pitchFamily="34" charset="0"/>
                <a:ea typeface="Calibri" pitchFamily="34" charset="-122"/>
                <a:cs typeface="Calibri" pitchFamily="34" charset="-120"/>
              </a:rPr>
              <a:t>MISSING VALUES</a:t>
            </a:r>
            <a:endParaRPr lang="en-US" sz="1250" dirty="0"/>
          </a:p>
        </p:txBody>
      </p:sp>
      <p:sp>
        <p:nvSpPr>
          <p:cNvPr id="21" name="Shape 19"/>
          <p:cNvSpPr/>
          <p:nvPr/>
        </p:nvSpPr>
        <p:spPr>
          <a:xfrm>
            <a:off x="8129016" y="4114800"/>
            <a:ext cx="3429000" cy="1828800"/>
          </a:xfrm>
          <a:prstGeom prst="rect">
            <a:avLst/>
          </a:prstGeom>
          <a:solidFill>
            <a:srgbClr val="F4F4F4"/>
          </a:solidFill>
          <a:ln/>
        </p:spPr>
      </p:sp>
      <p:sp>
        <p:nvSpPr>
          <p:cNvPr id="22" name="Text 20"/>
          <p:cNvSpPr/>
          <p:nvPr/>
        </p:nvSpPr>
        <p:spPr>
          <a:xfrm>
            <a:off x="8129016" y="4343400"/>
            <a:ext cx="3429000" cy="868680"/>
          </a:xfrm>
          <a:prstGeom prst="rect">
            <a:avLst/>
          </a:prstGeom>
          <a:noFill/>
          <a:ln/>
        </p:spPr>
        <p:txBody>
          <a:bodyPr wrap="square" rtlCol="0" anchor="ctr"/>
          <a:lstStyle/>
          <a:p>
            <a:pPr algn="ctr" indent="0" marL="0">
              <a:buNone/>
            </a:pPr>
            <a:r>
              <a:rPr lang="en-US" sz="3000" b="1" dirty="0">
                <a:solidFill>
                  <a:srgbClr val="8B0000"/>
                </a:solidFill>
                <a:latin typeface="Cambria" pitchFamily="34" charset="0"/>
                <a:ea typeface="Cambria" pitchFamily="34" charset="-122"/>
                <a:cs typeface="Cambria" pitchFamily="34" charset="-120"/>
              </a:rPr>
              <a:t>0</a:t>
            </a:r>
            <a:endParaRPr lang="en-US" sz="3000" dirty="0"/>
          </a:p>
        </p:txBody>
      </p:sp>
      <p:sp>
        <p:nvSpPr>
          <p:cNvPr id="23" name="Text 21"/>
          <p:cNvSpPr/>
          <p:nvPr/>
        </p:nvSpPr>
        <p:spPr>
          <a:xfrm>
            <a:off x="8129016" y="5257800"/>
            <a:ext cx="3429000" cy="457200"/>
          </a:xfrm>
          <a:prstGeom prst="rect">
            <a:avLst/>
          </a:prstGeom>
          <a:noFill/>
          <a:ln/>
        </p:spPr>
        <p:txBody>
          <a:bodyPr wrap="square" rtlCol="0" anchor="ctr"/>
          <a:lstStyle/>
          <a:p>
            <a:pPr algn="ctr" indent="0" marL="0">
              <a:buNone/>
            </a:pPr>
            <a:r>
              <a:rPr lang="en-US" sz="1250" spc="100" kern="0" dirty="0">
                <a:solidFill>
                  <a:srgbClr val="1A1A1A"/>
                </a:solidFill>
                <a:latin typeface="Calibri" pitchFamily="34" charset="0"/>
                <a:ea typeface="Calibri" pitchFamily="34" charset="-122"/>
                <a:cs typeface="Calibri" pitchFamily="34" charset="-120"/>
              </a:rPr>
              <a:t>DUPLICATE RECORDS</a:t>
            </a:r>
            <a:endParaRPr lang="en-US" sz="1250" dirty="0"/>
          </a:p>
        </p:txBody>
      </p:sp>
      <p:sp>
        <p:nvSpPr>
          <p:cNvPr id="24" name="Text 22"/>
          <p:cNvSpPr/>
          <p:nvPr/>
        </p:nvSpPr>
        <p:spPr>
          <a:xfrm>
            <a:off x="11475720" y="6446520"/>
            <a:ext cx="457200" cy="320040"/>
          </a:xfrm>
          <a:prstGeom prst="rect">
            <a:avLst/>
          </a:prstGeom>
          <a:noFill/>
          <a:ln/>
        </p:spPr>
        <p:txBody>
          <a:bodyPr wrap="square" rtlCol="0" anchor="ctr"/>
          <a:lstStyle/>
          <a:p>
            <a:pPr algn="r" indent="0" marL="0">
              <a:buNone/>
            </a:pPr>
            <a:r>
              <a:rPr lang="en-US" sz="1000" dirty="0">
                <a:solidFill>
                  <a:srgbClr val="AAAAA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28016"/>
          </a:xfrm>
          <a:prstGeom prst="rect">
            <a:avLst/>
          </a:prstGeom>
          <a:solidFill>
            <a:srgbClr val="8B0000"/>
          </a:solidFill>
          <a:ln/>
        </p:spPr>
      </p:sp>
      <p:pic>
        <p:nvPicPr>
          <p:cNvPr id="3" name="Image 0" descr="v2_top10_crime_types.png">    </p:cNvPr>
          <p:cNvPicPr>
            <a:picLocks noChangeAspect="1"/>
          </p:cNvPicPr>
          <p:nvPr/>
        </p:nvPicPr>
        <p:blipFill>
          <a:blip r:embed="rId1"/>
          <a:stretch>
            <a:fillRect/>
          </a:stretch>
        </p:blipFill>
        <p:spPr>
          <a:xfrm>
            <a:off x="365760" y="2198087"/>
            <a:ext cx="7589520" cy="2461826"/>
          </a:xfrm>
          <a:prstGeom prst="rect">
            <a:avLst/>
          </a:prstGeom>
        </p:spPr>
      </p:pic>
      <p:sp>
        <p:nvSpPr>
          <p:cNvPr id="4" name="Shape 1"/>
          <p:cNvSpPr/>
          <p:nvPr/>
        </p:nvSpPr>
        <p:spPr>
          <a:xfrm>
            <a:off x="8229600" y="1874520"/>
            <a:ext cx="3566160" cy="3108960"/>
          </a:xfrm>
          <a:prstGeom prst="rect">
            <a:avLst/>
          </a:prstGeom>
          <a:solidFill>
            <a:srgbClr val="F4F4F4"/>
          </a:solidFill>
          <a:ln/>
        </p:spPr>
      </p:sp>
      <p:sp>
        <p:nvSpPr>
          <p:cNvPr id="5" name="Shape 2"/>
          <p:cNvSpPr/>
          <p:nvPr/>
        </p:nvSpPr>
        <p:spPr>
          <a:xfrm>
            <a:off x="8229600" y="1874520"/>
            <a:ext cx="1737360" cy="420624"/>
          </a:xfrm>
          <a:prstGeom prst="rect">
            <a:avLst/>
          </a:prstGeom>
          <a:solidFill>
            <a:srgbClr val="8B0000"/>
          </a:solidFill>
          <a:ln/>
        </p:spPr>
      </p:sp>
      <p:sp>
        <p:nvSpPr>
          <p:cNvPr id="6" name="Text 3"/>
          <p:cNvSpPr/>
          <p:nvPr/>
        </p:nvSpPr>
        <p:spPr>
          <a:xfrm>
            <a:off x="8229600" y="1874520"/>
            <a:ext cx="1737360" cy="420624"/>
          </a:xfrm>
          <a:prstGeom prst="rect">
            <a:avLst/>
          </a:prstGeom>
          <a:noFill/>
          <a:ln/>
        </p:spPr>
        <p:txBody>
          <a:bodyPr wrap="square" rtlCol="0" anchor="ctr"/>
          <a:lstStyle/>
          <a:p>
            <a:pPr algn="ctr" indent="0" marL="0">
              <a:buNone/>
            </a:pPr>
            <a:r>
              <a:rPr lang="en-US" sz="1250" b="1" spc="100" kern="0" dirty="0">
                <a:solidFill>
                  <a:srgbClr val="FFFFFF"/>
                </a:solidFill>
                <a:latin typeface="Calibri" pitchFamily="34" charset="0"/>
                <a:ea typeface="Calibri" pitchFamily="34" charset="-122"/>
                <a:cs typeface="Calibri" pitchFamily="34" charset="-120"/>
              </a:rPr>
              <a:t>KEY FINDING</a:t>
            </a:r>
            <a:endParaRPr lang="en-US" sz="1250" dirty="0"/>
          </a:p>
        </p:txBody>
      </p:sp>
      <p:sp>
        <p:nvSpPr>
          <p:cNvPr id="7" name="Text 4"/>
          <p:cNvSpPr/>
          <p:nvPr/>
        </p:nvSpPr>
        <p:spPr>
          <a:xfrm>
            <a:off x="8503920" y="2651760"/>
            <a:ext cx="3017520" cy="2103120"/>
          </a:xfrm>
          <a:prstGeom prst="rect">
            <a:avLst/>
          </a:prstGeom>
          <a:noFill/>
          <a:ln/>
        </p:spPr>
        <p:txBody>
          <a:bodyPr wrap="square" rtlCol="0" anchor="t"/>
          <a:lstStyle/>
          <a:p>
            <a:pPr marL="342900" indent="-342900">
              <a:lnSpc>
                <a:spcPct val="115000"/>
              </a:lnSpc>
              <a:spcAft>
                <a:spcPts val="1200"/>
              </a:spcAft>
              <a:buSzPct val="100000"/>
              <a:buChar char="•"/>
            </a:pPr>
            <a:r>
              <a:rPr lang="en-US" sz="1450" dirty="0">
                <a:solidFill>
                  <a:srgbClr val="1A1A1A"/>
                </a:solidFill>
                <a:latin typeface="Calibri" pitchFamily="34" charset="0"/>
                <a:ea typeface="Calibri" pitchFamily="34" charset="-122"/>
                <a:cs typeface="Calibri" pitchFamily="34" charset="-120"/>
              </a:rPr>
              <a:t>Vehicle Theft was the most frequently reported crime (~115.5K incidents)</a:t>
            </a:r>
            <a:endParaRPr lang="en-US" sz="1450" dirty="0"/>
          </a:p>
          <a:p>
            <a:pPr marL="342900" indent="-342900">
              <a:lnSpc>
                <a:spcPct val="115000"/>
              </a:lnSpc>
              <a:spcAft>
                <a:spcPts val="1200"/>
              </a:spcAft>
              <a:buSzPct val="100000"/>
              <a:buChar char="•"/>
            </a:pPr>
            <a:r>
              <a:rPr lang="en-US" sz="1450" dirty="0">
                <a:solidFill>
                  <a:srgbClr val="1A1A1A"/>
                </a:solidFill>
                <a:latin typeface="Calibri" pitchFamily="34" charset="0"/>
                <a:ea typeface="Calibri" pitchFamily="34" charset="-122"/>
                <a:cs typeface="Calibri" pitchFamily="34" charset="-120"/>
              </a:rPr>
              <a:t>Followed by Battery – Simple Assault and Burglary from Vehicle</a:t>
            </a:r>
            <a:endParaRPr lang="en-US" sz="1450" dirty="0"/>
          </a:p>
        </p:txBody>
      </p:sp>
      <p:sp>
        <p:nvSpPr>
          <p:cNvPr id="8" name="Text 5"/>
          <p:cNvSpPr/>
          <p:nvPr/>
        </p:nvSpPr>
        <p:spPr>
          <a:xfrm>
            <a:off x="11475720" y="6446520"/>
            <a:ext cx="457200" cy="320040"/>
          </a:xfrm>
          <a:prstGeom prst="rect">
            <a:avLst/>
          </a:prstGeom>
          <a:noFill/>
          <a:ln/>
        </p:spPr>
        <p:txBody>
          <a:bodyPr wrap="square" rtlCol="0" anchor="ctr"/>
          <a:lstStyle/>
          <a:p>
            <a:pPr algn="r" indent="0" marL="0">
              <a:buNone/>
            </a:pPr>
            <a:r>
              <a:rPr lang="en-US" sz="1000" dirty="0">
                <a:solidFill>
                  <a:srgbClr val="AAAAA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28016"/>
          </a:xfrm>
          <a:prstGeom prst="rect">
            <a:avLst/>
          </a:prstGeom>
          <a:solidFill>
            <a:srgbClr val="8B0000"/>
          </a:solidFill>
          <a:ln/>
        </p:spPr>
      </p:sp>
      <p:pic>
        <p:nvPicPr>
          <p:cNvPr id="3" name="Image 0" descr="v2_top10_areas.png">    </p:cNvPr>
          <p:cNvPicPr>
            <a:picLocks noChangeAspect="1"/>
          </p:cNvPicPr>
          <p:nvPr/>
        </p:nvPicPr>
        <p:blipFill>
          <a:blip r:embed="rId1"/>
          <a:stretch>
            <a:fillRect/>
          </a:stretch>
        </p:blipFill>
        <p:spPr>
          <a:xfrm>
            <a:off x="365760" y="1514245"/>
            <a:ext cx="7589520" cy="3829511"/>
          </a:xfrm>
          <a:prstGeom prst="rect">
            <a:avLst/>
          </a:prstGeom>
        </p:spPr>
      </p:pic>
      <p:sp>
        <p:nvSpPr>
          <p:cNvPr id="4" name="Shape 1"/>
          <p:cNvSpPr/>
          <p:nvPr/>
        </p:nvSpPr>
        <p:spPr>
          <a:xfrm>
            <a:off x="8229600" y="1874520"/>
            <a:ext cx="3566160" cy="3108960"/>
          </a:xfrm>
          <a:prstGeom prst="rect">
            <a:avLst/>
          </a:prstGeom>
          <a:solidFill>
            <a:srgbClr val="F4F4F4"/>
          </a:solidFill>
          <a:ln/>
        </p:spPr>
      </p:sp>
      <p:sp>
        <p:nvSpPr>
          <p:cNvPr id="5" name="Shape 2"/>
          <p:cNvSpPr/>
          <p:nvPr/>
        </p:nvSpPr>
        <p:spPr>
          <a:xfrm>
            <a:off x="8229600" y="1874520"/>
            <a:ext cx="1737360" cy="420624"/>
          </a:xfrm>
          <a:prstGeom prst="rect">
            <a:avLst/>
          </a:prstGeom>
          <a:solidFill>
            <a:srgbClr val="8B0000"/>
          </a:solidFill>
          <a:ln/>
        </p:spPr>
      </p:sp>
      <p:sp>
        <p:nvSpPr>
          <p:cNvPr id="6" name="Text 3"/>
          <p:cNvSpPr/>
          <p:nvPr/>
        </p:nvSpPr>
        <p:spPr>
          <a:xfrm>
            <a:off x="8229600" y="1874520"/>
            <a:ext cx="1737360" cy="420624"/>
          </a:xfrm>
          <a:prstGeom prst="rect">
            <a:avLst/>
          </a:prstGeom>
          <a:noFill/>
          <a:ln/>
        </p:spPr>
        <p:txBody>
          <a:bodyPr wrap="square" rtlCol="0" anchor="ctr"/>
          <a:lstStyle/>
          <a:p>
            <a:pPr algn="ctr" indent="0" marL="0">
              <a:buNone/>
            </a:pPr>
            <a:r>
              <a:rPr lang="en-US" sz="1250" b="1" spc="100" kern="0" dirty="0">
                <a:solidFill>
                  <a:srgbClr val="FFFFFF"/>
                </a:solidFill>
                <a:latin typeface="Calibri" pitchFamily="34" charset="0"/>
                <a:ea typeface="Calibri" pitchFamily="34" charset="-122"/>
                <a:cs typeface="Calibri" pitchFamily="34" charset="-120"/>
              </a:rPr>
              <a:t>KEY FINDING</a:t>
            </a:r>
            <a:endParaRPr lang="en-US" sz="1250" dirty="0"/>
          </a:p>
        </p:txBody>
      </p:sp>
      <p:sp>
        <p:nvSpPr>
          <p:cNvPr id="7" name="Text 4"/>
          <p:cNvSpPr/>
          <p:nvPr/>
        </p:nvSpPr>
        <p:spPr>
          <a:xfrm>
            <a:off x="8503920" y="2651760"/>
            <a:ext cx="3017520" cy="2103120"/>
          </a:xfrm>
          <a:prstGeom prst="rect">
            <a:avLst/>
          </a:prstGeom>
          <a:noFill/>
          <a:ln/>
        </p:spPr>
        <p:txBody>
          <a:bodyPr wrap="square" rtlCol="0" anchor="t"/>
          <a:lstStyle/>
          <a:p>
            <a:pPr marL="342900" indent="-342900">
              <a:lnSpc>
                <a:spcPct val="115000"/>
              </a:lnSpc>
              <a:spcAft>
                <a:spcPts val="1200"/>
              </a:spcAft>
              <a:buSzPct val="100000"/>
              <a:buChar char="•"/>
            </a:pPr>
            <a:r>
              <a:rPr lang="en-US" sz="1450" dirty="0">
                <a:solidFill>
                  <a:srgbClr val="1A1A1A"/>
                </a:solidFill>
                <a:latin typeface="Calibri" pitchFamily="34" charset="0"/>
                <a:ea typeface="Calibri" pitchFamily="34" charset="-122"/>
                <a:cs typeface="Calibri" pitchFamily="34" charset="-120"/>
              </a:rPr>
              <a:t>Central recorded the highest number of reported crimes</a:t>
            </a:r>
            <a:endParaRPr lang="en-US" sz="1450" dirty="0"/>
          </a:p>
          <a:p>
            <a:pPr marL="342900" indent="-342900">
              <a:lnSpc>
                <a:spcPct val="115000"/>
              </a:lnSpc>
              <a:spcAft>
                <a:spcPts val="1200"/>
              </a:spcAft>
              <a:buSzPct val="100000"/>
              <a:buChar char="•"/>
            </a:pPr>
            <a:r>
              <a:rPr lang="en-US" sz="1450" dirty="0">
                <a:solidFill>
                  <a:srgbClr val="1A1A1A"/>
                </a:solidFill>
                <a:latin typeface="Calibri" pitchFamily="34" charset="0"/>
                <a:ea typeface="Calibri" pitchFamily="34" charset="-122"/>
                <a:cs typeface="Calibri" pitchFamily="34" charset="-120"/>
              </a:rPr>
              <a:t>Followed by 77th Street and Pacific</a:t>
            </a:r>
            <a:endParaRPr lang="en-US" sz="1450" dirty="0"/>
          </a:p>
        </p:txBody>
      </p:sp>
      <p:sp>
        <p:nvSpPr>
          <p:cNvPr id="8" name="Text 5"/>
          <p:cNvSpPr/>
          <p:nvPr/>
        </p:nvSpPr>
        <p:spPr>
          <a:xfrm>
            <a:off x="11475720" y="6446520"/>
            <a:ext cx="457200" cy="320040"/>
          </a:xfrm>
          <a:prstGeom prst="rect">
            <a:avLst/>
          </a:prstGeom>
          <a:noFill/>
          <a:ln/>
        </p:spPr>
        <p:txBody>
          <a:bodyPr wrap="square" rtlCol="0" anchor="ctr"/>
          <a:lstStyle/>
          <a:p>
            <a:pPr algn="r" indent="0" marL="0">
              <a:buNone/>
            </a:pPr>
            <a:r>
              <a:rPr lang="en-US" sz="1000" dirty="0">
                <a:solidFill>
                  <a:srgbClr val="AAAAA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28016"/>
          </a:xfrm>
          <a:prstGeom prst="rect">
            <a:avLst/>
          </a:prstGeom>
          <a:solidFill>
            <a:srgbClr val="8B0000"/>
          </a:solidFill>
          <a:ln/>
        </p:spPr>
      </p:sp>
      <p:pic>
        <p:nvPicPr>
          <p:cNvPr id="3" name="Image 0" descr="v2_crime_by_year.png">    </p:cNvPr>
          <p:cNvPicPr>
            <a:picLocks noChangeAspect="1"/>
          </p:cNvPicPr>
          <p:nvPr/>
        </p:nvPicPr>
        <p:blipFill>
          <a:blip r:embed="rId1"/>
          <a:stretch>
            <a:fillRect/>
          </a:stretch>
        </p:blipFill>
        <p:spPr>
          <a:xfrm>
            <a:off x="365760" y="1409502"/>
            <a:ext cx="7589520" cy="4038995"/>
          </a:xfrm>
          <a:prstGeom prst="rect">
            <a:avLst/>
          </a:prstGeom>
        </p:spPr>
      </p:pic>
      <p:sp>
        <p:nvSpPr>
          <p:cNvPr id="4" name="Shape 1"/>
          <p:cNvSpPr/>
          <p:nvPr/>
        </p:nvSpPr>
        <p:spPr>
          <a:xfrm>
            <a:off x="8229600" y="1874520"/>
            <a:ext cx="3566160" cy="3108960"/>
          </a:xfrm>
          <a:prstGeom prst="rect">
            <a:avLst/>
          </a:prstGeom>
          <a:solidFill>
            <a:srgbClr val="F4F4F4"/>
          </a:solidFill>
          <a:ln/>
        </p:spPr>
      </p:sp>
      <p:sp>
        <p:nvSpPr>
          <p:cNvPr id="5" name="Shape 2"/>
          <p:cNvSpPr/>
          <p:nvPr/>
        </p:nvSpPr>
        <p:spPr>
          <a:xfrm>
            <a:off x="8229600" y="1874520"/>
            <a:ext cx="1737360" cy="420624"/>
          </a:xfrm>
          <a:prstGeom prst="rect">
            <a:avLst/>
          </a:prstGeom>
          <a:solidFill>
            <a:srgbClr val="8B0000"/>
          </a:solidFill>
          <a:ln/>
        </p:spPr>
      </p:sp>
      <p:sp>
        <p:nvSpPr>
          <p:cNvPr id="6" name="Text 3"/>
          <p:cNvSpPr/>
          <p:nvPr/>
        </p:nvSpPr>
        <p:spPr>
          <a:xfrm>
            <a:off x="8229600" y="1874520"/>
            <a:ext cx="1737360" cy="420624"/>
          </a:xfrm>
          <a:prstGeom prst="rect">
            <a:avLst/>
          </a:prstGeom>
          <a:noFill/>
          <a:ln/>
        </p:spPr>
        <p:txBody>
          <a:bodyPr wrap="square" rtlCol="0" anchor="ctr"/>
          <a:lstStyle/>
          <a:p>
            <a:pPr algn="ctr" indent="0" marL="0">
              <a:buNone/>
            </a:pPr>
            <a:r>
              <a:rPr lang="en-US" sz="1250" b="1" spc="100" kern="0" dirty="0">
                <a:solidFill>
                  <a:srgbClr val="FFFFFF"/>
                </a:solidFill>
                <a:latin typeface="Calibri" pitchFamily="34" charset="0"/>
                <a:ea typeface="Calibri" pitchFamily="34" charset="-122"/>
                <a:cs typeface="Calibri" pitchFamily="34" charset="-120"/>
              </a:rPr>
              <a:t>KEY FINDING</a:t>
            </a:r>
            <a:endParaRPr lang="en-US" sz="1250" dirty="0"/>
          </a:p>
        </p:txBody>
      </p:sp>
      <p:sp>
        <p:nvSpPr>
          <p:cNvPr id="7" name="Text 4"/>
          <p:cNvSpPr/>
          <p:nvPr/>
        </p:nvSpPr>
        <p:spPr>
          <a:xfrm>
            <a:off x="8503920" y="2651760"/>
            <a:ext cx="3017520" cy="2103120"/>
          </a:xfrm>
          <a:prstGeom prst="rect">
            <a:avLst/>
          </a:prstGeom>
          <a:noFill/>
          <a:ln/>
        </p:spPr>
        <p:txBody>
          <a:bodyPr wrap="square" rtlCol="0" anchor="t"/>
          <a:lstStyle/>
          <a:p>
            <a:pPr marL="342900" indent="-342900">
              <a:lnSpc>
                <a:spcPct val="115000"/>
              </a:lnSpc>
              <a:spcAft>
                <a:spcPts val="1200"/>
              </a:spcAft>
              <a:buSzPct val="100000"/>
              <a:buChar char="•"/>
            </a:pPr>
            <a:r>
              <a:rPr lang="en-US" sz="1450" dirty="0">
                <a:solidFill>
                  <a:srgbClr val="1A1A1A"/>
                </a:solidFill>
                <a:latin typeface="Calibri" pitchFamily="34" charset="0"/>
                <a:ea typeface="Calibri" pitchFamily="34" charset="-122"/>
                <a:cs typeface="Calibri" pitchFamily="34" charset="-120"/>
              </a:rPr>
              <a:t>Crime incidents rose from 2020 to 2022, the peak year</a:t>
            </a:r>
            <a:endParaRPr lang="en-US" sz="1450" dirty="0"/>
          </a:p>
          <a:p>
            <a:pPr marL="342900" indent="-342900">
              <a:lnSpc>
                <a:spcPct val="115000"/>
              </a:lnSpc>
              <a:spcAft>
                <a:spcPts val="1200"/>
              </a:spcAft>
              <a:buSzPct val="100000"/>
              <a:buChar char="•"/>
            </a:pPr>
            <a:r>
              <a:rPr lang="en-US" sz="1450" dirty="0">
                <a:solidFill>
                  <a:srgbClr val="1A1A1A"/>
                </a:solidFill>
                <a:latin typeface="Calibri" pitchFamily="34" charset="0"/>
                <a:ea typeface="Calibri" pitchFamily="34" charset="-122"/>
                <a:cs typeface="Calibri" pitchFamily="34" charset="-120"/>
              </a:rPr>
              <a:t>Remained high in 2023, then declined in 2024</a:t>
            </a:r>
            <a:endParaRPr lang="en-US" sz="1450" dirty="0"/>
          </a:p>
        </p:txBody>
      </p:sp>
      <p:sp>
        <p:nvSpPr>
          <p:cNvPr id="8" name="Text 5"/>
          <p:cNvSpPr/>
          <p:nvPr/>
        </p:nvSpPr>
        <p:spPr>
          <a:xfrm>
            <a:off x="11475720" y="6446520"/>
            <a:ext cx="457200" cy="320040"/>
          </a:xfrm>
          <a:prstGeom prst="rect">
            <a:avLst/>
          </a:prstGeom>
          <a:noFill/>
          <a:ln/>
        </p:spPr>
        <p:txBody>
          <a:bodyPr wrap="square" rtlCol="0" anchor="ctr"/>
          <a:lstStyle/>
          <a:p>
            <a:pPr algn="r" indent="0" marL="0">
              <a:buNone/>
            </a:pPr>
            <a:r>
              <a:rPr lang="en-US" sz="1000" dirty="0">
                <a:solidFill>
                  <a:srgbClr val="AAAAA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28016"/>
          </a:xfrm>
          <a:prstGeom prst="rect">
            <a:avLst/>
          </a:prstGeom>
          <a:solidFill>
            <a:srgbClr val="8B0000"/>
          </a:solidFill>
          <a:ln/>
        </p:spPr>
      </p:sp>
      <p:pic>
        <p:nvPicPr>
          <p:cNvPr id="3" name="Image 0" descr="v2_time_of_day.png">    </p:cNvPr>
          <p:cNvPicPr>
            <a:picLocks noChangeAspect="1"/>
          </p:cNvPicPr>
          <p:nvPr/>
        </p:nvPicPr>
        <p:blipFill>
          <a:blip r:embed="rId1"/>
          <a:stretch>
            <a:fillRect/>
          </a:stretch>
        </p:blipFill>
        <p:spPr>
          <a:xfrm>
            <a:off x="365760" y="1096006"/>
            <a:ext cx="7589520" cy="4665987"/>
          </a:xfrm>
          <a:prstGeom prst="rect">
            <a:avLst/>
          </a:prstGeom>
        </p:spPr>
      </p:pic>
      <p:sp>
        <p:nvSpPr>
          <p:cNvPr id="4" name="Shape 1"/>
          <p:cNvSpPr/>
          <p:nvPr/>
        </p:nvSpPr>
        <p:spPr>
          <a:xfrm>
            <a:off x="8229600" y="1874520"/>
            <a:ext cx="3566160" cy="3108960"/>
          </a:xfrm>
          <a:prstGeom prst="rect">
            <a:avLst/>
          </a:prstGeom>
          <a:solidFill>
            <a:srgbClr val="F4F4F4"/>
          </a:solidFill>
          <a:ln/>
        </p:spPr>
      </p:sp>
      <p:sp>
        <p:nvSpPr>
          <p:cNvPr id="5" name="Shape 2"/>
          <p:cNvSpPr/>
          <p:nvPr/>
        </p:nvSpPr>
        <p:spPr>
          <a:xfrm>
            <a:off x="8229600" y="1874520"/>
            <a:ext cx="1737360" cy="420624"/>
          </a:xfrm>
          <a:prstGeom prst="rect">
            <a:avLst/>
          </a:prstGeom>
          <a:solidFill>
            <a:srgbClr val="8B0000"/>
          </a:solidFill>
          <a:ln/>
        </p:spPr>
      </p:sp>
      <p:sp>
        <p:nvSpPr>
          <p:cNvPr id="6" name="Text 3"/>
          <p:cNvSpPr/>
          <p:nvPr/>
        </p:nvSpPr>
        <p:spPr>
          <a:xfrm>
            <a:off x="8229600" y="1874520"/>
            <a:ext cx="1737360" cy="420624"/>
          </a:xfrm>
          <a:prstGeom prst="rect">
            <a:avLst/>
          </a:prstGeom>
          <a:noFill/>
          <a:ln/>
        </p:spPr>
        <p:txBody>
          <a:bodyPr wrap="square" rtlCol="0" anchor="ctr"/>
          <a:lstStyle/>
          <a:p>
            <a:pPr algn="ctr" indent="0" marL="0">
              <a:buNone/>
            </a:pPr>
            <a:r>
              <a:rPr lang="en-US" sz="1250" b="1" spc="100" kern="0" dirty="0">
                <a:solidFill>
                  <a:srgbClr val="FFFFFF"/>
                </a:solidFill>
                <a:latin typeface="Calibri" pitchFamily="34" charset="0"/>
                <a:ea typeface="Calibri" pitchFamily="34" charset="-122"/>
                <a:cs typeface="Calibri" pitchFamily="34" charset="-120"/>
              </a:rPr>
              <a:t>KEY FINDING</a:t>
            </a:r>
            <a:endParaRPr lang="en-US" sz="1250" dirty="0"/>
          </a:p>
        </p:txBody>
      </p:sp>
      <p:sp>
        <p:nvSpPr>
          <p:cNvPr id="7" name="Text 4"/>
          <p:cNvSpPr/>
          <p:nvPr/>
        </p:nvSpPr>
        <p:spPr>
          <a:xfrm>
            <a:off x="8503920" y="2651760"/>
            <a:ext cx="3017520" cy="2103120"/>
          </a:xfrm>
          <a:prstGeom prst="rect">
            <a:avLst/>
          </a:prstGeom>
          <a:noFill/>
          <a:ln/>
        </p:spPr>
        <p:txBody>
          <a:bodyPr wrap="square" rtlCol="0" anchor="t"/>
          <a:lstStyle/>
          <a:p>
            <a:pPr marL="342900" indent="-342900">
              <a:lnSpc>
                <a:spcPct val="115000"/>
              </a:lnSpc>
              <a:spcAft>
                <a:spcPts val="1200"/>
              </a:spcAft>
              <a:buSzPct val="100000"/>
              <a:buChar char="•"/>
            </a:pPr>
            <a:r>
              <a:rPr lang="en-US" sz="1450" dirty="0">
                <a:solidFill>
                  <a:srgbClr val="1A1A1A"/>
                </a:solidFill>
                <a:latin typeface="Calibri" pitchFamily="34" charset="0"/>
                <a:ea typeface="Calibri" pitchFamily="34" charset="-122"/>
                <a:cs typeface="Calibri" pitchFamily="34" charset="-120"/>
              </a:rPr>
              <a:t>Most crimes were reported at Night, followed by Afternoon</a:t>
            </a:r>
            <a:endParaRPr lang="en-US" sz="1450" dirty="0"/>
          </a:p>
          <a:p>
            <a:pPr marL="342900" indent="-342900">
              <a:lnSpc>
                <a:spcPct val="115000"/>
              </a:lnSpc>
              <a:spcAft>
                <a:spcPts val="1200"/>
              </a:spcAft>
              <a:buSzPct val="100000"/>
              <a:buChar char="•"/>
            </a:pPr>
            <a:r>
              <a:rPr lang="en-US" sz="1450" dirty="0">
                <a:solidFill>
                  <a:srgbClr val="1A1A1A"/>
                </a:solidFill>
                <a:latin typeface="Calibri" pitchFamily="34" charset="0"/>
                <a:ea typeface="Calibri" pitchFamily="34" charset="-122"/>
                <a:cs typeface="Calibri" pitchFamily="34" charset="-120"/>
              </a:rPr>
              <a:t>Morning recorded the fewest incidents</a:t>
            </a:r>
            <a:endParaRPr lang="en-US" sz="1450" dirty="0"/>
          </a:p>
        </p:txBody>
      </p:sp>
      <p:sp>
        <p:nvSpPr>
          <p:cNvPr id="8" name="Text 5"/>
          <p:cNvSpPr/>
          <p:nvPr/>
        </p:nvSpPr>
        <p:spPr>
          <a:xfrm>
            <a:off x="11475720" y="6446520"/>
            <a:ext cx="457200" cy="320040"/>
          </a:xfrm>
          <a:prstGeom prst="rect">
            <a:avLst/>
          </a:prstGeom>
          <a:noFill/>
          <a:ln/>
        </p:spPr>
        <p:txBody>
          <a:bodyPr wrap="square" rtlCol="0" anchor="ctr"/>
          <a:lstStyle/>
          <a:p>
            <a:pPr algn="r" indent="0" marL="0">
              <a:buNone/>
            </a:pPr>
            <a:r>
              <a:rPr lang="en-US" sz="1000" dirty="0">
                <a:solidFill>
                  <a:srgbClr val="AAAAA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28016"/>
          </a:xfrm>
          <a:prstGeom prst="rect">
            <a:avLst/>
          </a:prstGeom>
          <a:solidFill>
            <a:srgbClr val="8B0000"/>
          </a:solidFill>
          <a:ln/>
        </p:spPr>
      </p:sp>
      <p:pic>
        <p:nvPicPr>
          <p:cNvPr id="3" name="Image 0" descr="v2_season.png">    </p:cNvPr>
          <p:cNvPicPr>
            <a:picLocks noChangeAspect="1"/>
          </p:cNvPicPr>
          <p:nvPr/>
        </p:nvPicPr>
        <p:blipFill>
          <a:blip r:embed="rId1"/>
          <a:stretch>
            <a:fillRect/>
          </a:stretch>
        </p:blipFill>
        <p:spPr>
          <a:xfrm>
            <a:off x="365760" y="1409502"/>
            <a:ext cx="7589520" cy="4038995"/>
          </a:xfrm>
          <a:prstGeom prst="rect">
            <a:avLst/>
          </a:prstGeom>
        </p:spPr>
      </p:pic>
      <p:sp>
        <p:nvSpPr>
          <p:cNvPr id="4" name="Shape 1"/>
          <p:cNvSpPr/>
          <p:nvPr/>
        </p:nvSpPr>
        <p:spPr>
          <a:xfrm>
            <a:off x="8229600" y="1874520"/>
            <a:ext cx="3566160" cy="3108960"/>
          </a:xfrm>
          <a:prstGeom prst="rect">
            <a:avLst/>
          </a:prstGeom>
          <a:solidFill>
            <a:srgbClr val="F4F4F4"/>
          </a:solidFill>
          <a:ln/>
        </p:spPr>
      </p:sp>
      <p:sp>
        <p:nvSpPr>
          <p:cNvPr id="5" name="Shape 2"/>
          <p:cNvSpPr/>
          <p:nvPr/>
        </p:nvSpPr>
        <p:spPr>
          <a:xfrm>
            <a:off x="8229600" y="1874520"/>
            <a:ext cx="1737360" cy="420624"/>
          </a:xfrm>
          <a:prstGeom prst="rect">
            <a:avLst/>
          </a:prstGeom>
          <a:solidFill>
            <a:srgbClr val="8B0000"/>
          </a:solidFill>
          <a:ln/>
        </p:spPr>
      </p:sp>
      <p:sp>
        <p:nvSpPr>
          <p:cNvPr id="6" name="Text 3"/>
          <p:cNvSpPr/>
          <p:nvPr/>
        </p:nvSpPr>
        <p:spPr>
          <a:xfrm>
            <a:off x="8229600" y="1874520"/>
            <a:ext cx="1737360" cy="420624"/>
          </a:xfrm>
          <a:prstGeom prst="rect">
            <a:avLst/>
          </a:prstGeom>
          <a:noFill/>
          <a:ln/>
        </p:spPr>
        <p:txBody>
          <a:bodyPr wrap="square" rtlCol="0" anchor="ctr"/>
          <a:lstStyle/>
          <a:p>
            <a:pPr algn="ctr" indent="0" marL="0">
              <a:buNone/>
            </a:pPr>
            <a:r>
              <a:rPr lang="en-US" sz="1250" b="1" spc="100" kern="0" dirty="0">
                <a:solidFill>
                  <a:srgbClr val="FFFFFF"/>
                </a:solidFill>
                <a:latin typeface="Calibri" pitchFamily="34" charset="0"/>
                <a:ea typeface="Calibri" pitchFamily="34" charset="-122"/>
                <a:cs typeface="Calibri" pitchFamily="34" charset="-120"/>
              </a:rPr>
              <a:t>KEY FINDING</a:t>
            </a:r>
            <a:endParaRPr lang="en-US" sz="1250" dirty="0"/>
          </a:p>
        </p:txBody>
      </p:sp>
      <p:sp>
        <p:nvSpPr>
          <p:cNvPr id="7" name="Text 4"/>
          <p:cNvSpPr/>
          <p:nvPr/>
        </p:nvSpPr>
        <p:spPr>
          <a:xfrm>
            <a:off x="8503920" y="2651760"/>
            <a:ext cx="3017520" cy="2103120"/>
          </a:xfrm>
          <a:prstGeom prst="rect">
            <a:avLst/>
          </a:prstGeom>
          <a:noFill/>
          <a:ln/>
        </p:spPr>
        <p:txBody>
          <a:bodyPr wrap="square" rtlCol="0" anchor="t"/>
          <a:lstStyle/>
          <a:p>
            <a:pPr marL="342900" indent="-342900">
              <a:lnSpc>
                <a:spcPct val="115000"/>
              </a:lnSpc>
              <a:spcAft>
                <a:spcPts val="1200"/>
              </a:spcAft>
              <a:buSzPct val="100000"/>
              <a:buChar char="•"/>
            </a:pPr>
            <a:r>
              <a:rPr lang="en-US" sz="1450" dirty="0">
                <a:solidFill>
                  <a:srgbClr val="1A1A1A"/>
                </a:solidFill>
                <a:latin typeface="Calibri" pitchFamily="34" charset="0"/>
                <a:ea typeface="Calibri" pitchFamily="34" charset="-122"/>
                <a:cs typeface="Calibri" pitchFamily="34" charset="-120"/>
              </a:rPr>
              <a:t>Summer recorded the highest number of crime incidents</a:t>
            </a:r>
            <a:endParaRPr lang="en-US" sz="1450" dirty="0"/>
          </a:p>
          <a:p>
            <a:pPr marL="342900" indent="-342900">
              <a:lnSpc>
                <a:spcPct val="115000"/>
              </a:lnSpc>
              <a:spcAft>
                <a:spcPts val="1200"/>
              </a:spcAft>
              <a:buSzPct val="100000"/>
              <a:buChar char="•"/>
            </a:pPr>
            <a:r>
              <a:rPr lang="en-US" sz="1450" dirty="0">
                <a:solidFill>
                  <a:srgbClr val="1A1A1A"/>
                </a:solidFill>
                <a:latin typeface="Calibri" pitchFamily="34" charset="0"/>
                <a:ea typeface="Calibri" pitchFamily="34" charset="-122"/>
                <a:cs typeface="Calibri" pitchFamily="34" charset="-120"/>
              </a:rPr>
              <a:t>Winter recorded the lowest — crime is generally higher in warmer months</a:t>
            </a:r>
            <a:endParaRPr lang="en-US" sz="1450" dirty="0"/>
          </a:p>
        </p:txBody>
      </p:sp>
      <p:sp>
        <p:nvSpPr>
          <p:cNvPr id="8" name="Text 5"/>
          <p:cNvSpPr/>
          <p:nvPr/>
        </p:nvSpPr>
        <p:spPr>
          <a:xfrm>
            <a:off x="11475720" y="6446520"/>
            <a:ext cx="457200" cy="320040"/>
          </a:xfrm>
          <a:prstGeom prst="rect">
            <a:avLst/>
          </a:prstGeom>
          <a:noFill/>
          <a:ln/>
        </p:spPr>
        <p:txBody>
          <a:bodyPr wrap="square" rtlCol="0" anchor="ctr"/>
          <a:lstStyle/>
          <a:p>
            <a:pPr algn="r" indent="0" marL="0">
              <a:buNone/>
            </a:pPr>
            <a:r>
              <a:rPr lang="en-US" sz="1000" dirty="0">
                <a:solidFill>
                  <a:srgbClr val="AAAAA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28016"/>
          </a:xfrm>
          <a:prstGeom prst="rect">
            <a:avLst/>
          </a:prstGeom>
          <a:solidFill>
            <a:srgbClr val="8B0000"/>
          </a:solidFill>
          <a:ln/>
        </p:spPr>
      </p:sp>
      <p:pic>
        <p:nvPicPr>
          <p:cNvPr id="3" name="Image 0" descr="v2_central_top10.png">    </p:cNvPr>
          <p:cNvPicPr>
            <a:picLocks noChangeAspect="1"/>
          </p:cNvPicPr>
          <p:nvPr/>
        </p:nvPicPr>
        <p:blipFill>
          <a:blip r:embed="rId1"/>
          <a:stretch>
            <a:fillRect/>
          </a:stretch>
        </p:blipFill>
        <p:spPr>
          <a:xfrm>
            <a:off x="365760" y="2206660"/>
            <a:ext cx="7589520" cy="2444680"/>
          </a:xfrm>
          <a:prstGeom prst="rect">
            <a:avLst/>
          </a:prstGeom>
        </p:spPr>
      </p:pic>
      <p:sp>
        <p:nvSpPr>
          <p:cNvPr id="4" name="Shape 1"/>
          <p:cNvSpPr/>
          <p:nvPr/>
        </p:nvSpPr>
        <p:spPr>
          <a:xfrm>
            <a:off x="8229600" y="1874520"/>
            <a:ext cx="3566160" cy="3108960"/>
          </a:xfrm>
          <a:prstGeom prst="rect">
            <a:avLst/>
          </a:prstGeom>
          <a:solidFill>
            <a:srgbClr val="F4F4F4"/>
          </a:solidFill>
          <a:ln/>
        </p:spPr>
      </p:sp>
      <p:sp>
        <p:nvSpPr>
          <p:cNvPr id="5" name="Shape 2"/>
          <p:cNvSpPr/>
          <p:nvPr/>
        </p:nvSpPr>
        <p:spPr>
          <a:xfrm>
            <a:off x="8229600" y="1874520"/>
            <a:ext cx="1737360" cy="420624"/>
          </a:xfrm>
          <a:prstGeom prst="rect">
            <a:avLst/>
          </a:prstGeom>
          <a:solidFill>
            <a:srgbClr val="8B0000"/>
          </a:solidFill>
          <a:ln/>
        </p:spPr>
      </p:sp>
      <p:sp>
        <p:nvSpPr>
          <p:cNvPr id="6" name="Text 3"/>
          <p:cNvSpPr/>
          <p:nvPr/>
        </p:nvSpPr>
        <p:spPr>
          <a:xfrm>
            <a:off x="8229600" y="1874520"/>
            <a:ext cx="1737360" cy="420624"/>
          </a:xfrm>
          <a:prstGeom prst="rect">
            <a:avLst/>
          </a:prstGeom>
          <a:noFill/>
          <a:ln/>
        </p:spPr>
        <p:txBody>
          <a:bodyPr wrap="square" rtlCol="0" anchor="ctr"/>
          <a:lstStyle/>
          <a:p>
            <a:pPr algn="ctr" indent="0" marL="0">
              <a:buNone/>
            </a:pPr>
            <a:r>
              <a:rPr lang="en-US" sz="1250" b="1" spc="100" kern="0" dirty="0">
                <a:solidFill>
                  <a:srgbClr val="FFFFFF"/>
                </a:solidFill>
                <a:latin typeface="Calibri" pitchFamily="34" charset="0"/>
                <a:ea typeface="Calibri" pitchFamily="34" charset="-122"/>
                <a:cs typeface="Calibri" pitchFamily="34" charset="-120"/>
              </a:rPr>
              <a:t>KEY FINDING</a:t>
            </a:r>
            <a:endParaRPr lang="en-US" sz="1250" dirty="0"/>
          </a:p>
        </p:txBody>
      </p:sp>
      <p:sp>
        <p:nvSpPr>
          <p:cNvPr id="7" name="Text 4"/>
          <p:cNvSpPr/>
          <p:nvPr/>
        </p:nvSpPr>
        <p:spPr>
          <a:xfrm>
            <a:off x="8503920" y="2651760"/>
            <a:ext cx="3017520" cy="2103120"/>
          </a:xfrm>
          <a:prstGeom prst="rect">
            <a:avLst/>
          </a:prstGeom>
          <a:noFill/>
          <a:ln/>
        </p:spPr>
        <p:txBody>
          <a:bodyPr wrap="square" rtlCol="0" anchor="t"/>
          <a:lstStyle/>
          <a:p>
            <a:pPr marL="342900" indent="-342900">
              <a:lnSpc>
                <a:spcPct val="115000"/>
              </a:lnSpc>
              <a:spcAft>
                <a:spcPts val="1200"/>
              </a:spcAft>
              <a:buSzPct val="100000"/>
              <a:buChar char="•"/>
            </a:pPr>
            <a:r>
              <a:rPr lang="en-US" sz="1450" dirty="0">
                <a:solidFill>
                  <a:srgbClr val="1A1A1A"/>
                </a:solidFill>
                <a:latin typeface="Calibri" pitchFamily="34" charset="0"/>
                <a:ea typeface="Calibri" pitchFamily="34" charset="-122"/>
                <a:cs typeface="Calibri" pitchFamily="34" charset="-120"/>
              </a:rPr>
              <a:t>Burglary from Vehicle was the most frequent crime in Central</a:t>
            </a:r>
            <a:endParaRPr lang="en-US" sz="1450" dirty="0"/>
          </a:p>
          <a:p>
            <a:pPr marL="342900" indent="-342900">
              <a:lnSpc>
                <a:spcPct val="115000"/>
              </a:lnSpc>
              <a:spcAft>
                <a:spcPts val="1200"/>
              </a:spcAft>
              <a:buSzPct val="100000"/>
              <a:buChar char="•"/>
            </a:pPr>
            <a:r>
              <a:rPr lang="en-US" sz="1450" dirty="0">
                <a:solidFill>
                  <a:srgbClr val="1A1A1A"/>
                </a:solidFill>
                <a:latin typeface="Calibri" pitchFamily="34" charset="0"/>
                <a:ea typeface="Calibri" pitchFamily="34" charset="-122"/>
                <a:cs typeface="Calibri" pitchFamily="34" charset="-120"/>
              </a:rPr>
              <a:t>Followed by Battery – Simple Assault and Vehicle Theft</a:t>
            </a:r>
            <a:endParaRPr lang="en-US" sz="1450" dirty="0"/>
          </a:p>
          <a:p>
            <a:pPr marL="342900" indent="-342900">
              <a:lnSpc>
                <a:spcPct val="115000"/>
              </a:lnSpc>
              <a:spcAft>
                <a:spcPts val="1200"/>
              </a:spcAft>
              <a:buSzPct val="100000"/>
              <a:buChar char="•"/>
            </a:pPr>
            <a:r>
              <a:rPr lang="en-US" sz="1450" dirty="0">
                <a:solidFill>
                  <a:srgbClr val="1A1A1A"/>
                </a:solidFill>
                <a:latin typeface="Calibri" pitchFamily="34" charset="0"/>
                <a:ea typeface="Calibri" pitchFamily="34" charset="-122"/>
                <a:cs typeface="Calibri" pitchFamily="34" charset="-120"/>
              </a:rPr>
              <a:t>Vehicle-related crime dominates this area</a:t>
            </a:r>
            <a:endParaRPr lang="en-US" sz="1450" dirty="0"/>
          </a:p>
        </p:txBody>
      </p:sp>
      <p:sp>
        <p:nvSpPr>
          <p:cNvPr id="8" name="Text 5"/>
          <p:cNvSpPr/>
          <p:nvPr/>
        </p:nvSpPr>
        <p:spPr>
          <a:xfrm>
            <a:off x="11475720" y="6446520"/>
            <a:ext cx="457200" cy="320040"/>
          </a:xfrm>
          <a:prstGeom prst="rect">
            <a:avLst/>
          </a:prstGeom>
          <a:noFill/>
          <a:ln/>
        </p:spPr>
        <p:txBody>
          <a:bodyPr wrap="square" rtlCol="0" anchor="ctr"/>
          <a:lstStyle/>
          <a:p>
            <a:pPr algn="r" indent="0" marL="0">
              <a:buNone/>
            </a:pPr>
            <a:r>
              <a:rPr lang="en-US" sz="1000" dirty="0">
                <a:solidFill>
                  <a:srgbClr val="AAAAA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28016"/>
          </a:xfrm>
          <a:prstGeom prst="rect">
            <a:avLst/>
          </a:prstGeom>
          <a:solidFill>
            <a:srgbClr val="8B0000"/>
          </a:solidFill>
          <a:ln/>
        </p:spPr>
      </p:sp>
      <p:sp>
        <p:nvSpPr>
          <p:cNvPr id="3" name="Text 1"/>
          <p:cNvSpPr/>
          <p:nvPr/>
        </p:nvSpPr>
        <p:spPr>
          <a:xfrm>
            <a:off x="640080" y="457200"/>
            <a:ext cx="10881360" cy="64008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Summary</a:t>
            </a:r>
            <a:endParaRPr lang="en-US" sz="3200" dirty="0"/>
          </a:p>
        </p:txBody>
      </p:sp>
      <p:sp>
        <p:nvSpPr>
          <p:cNvPr id="4" name="Shape 2"/>
          <p:cNvSpPr/>
          <p:nvPr/>
        </p:nvSpPr>
        <p:spPr>
          <a:xfrm>
            <a:off x="658368" y="1133856"/>
            <a:ext cx="822960" cy="54864"/>
          </a:xfrm>
          <a:prstGeom prst="rect">
            <a:avLst/>
          </a:prstGeom>
          <a:solidFill>
            <a:srgbClr val="8B0000"/>
          </a:solidFill>
          <a:ln/>
        </p:spPr>
      </p:sp>
      <p:sp>
        <p:nvSpPr>
          <p:cNvPr id="5" name="Shape 3"/>
          <p:cNvSpPr/>
          <p:nvPr/>
        </p:nvSpPr>
        <p:spPr>
          <a:xfrm>
            <a:off x="640080" y="1417320"/>
            <a:ext cx="5349240" cy="1417320"/>
          </a:xfrm>
          <a:prstGeom prst="rect">
            <a:avLst/>
          </a:prstGeom>
          <a:solidFill>
            <a:srgbClr val="F4F4F4"/>
          </a:solidFill>
          <a:ln/>
        </p:spPr>
      </p:sp>
      <p:sp>
        <p:nvSpPr>
          <p:cNvPr id="6" name="Text 4"/>
          <p:cNvSpPr/>
          <p:nvPr/>
        </p:nvSpPr>
        <p:spPr>
          <a:xfrm>
            <a:off x="960120" y="1417320"/>
            <a:ext cx="4846320" cy="1417320"/>
          </a:xfrm>
          <a:prstGeom prst="rect">
            <a:avLst/>
          </a:prstGeom>
          <a:noFill/>
          <a:ln/>
        </p:spPr>
        <p:txBody>
          <a:bodyPr wrap="square" rtlCol="0" anchor="ctr"/>
          <a:lstStyle/>
          <a:p>
            <a:pPr indent="0" marL="0">
              <a:buNone/>
            </a:pPr>
            <a:r>
              <a:rPr lang="en-US" sz="1500" dirty="0">
                <a:solidFill>
                  <a:srgbClr val="1A1A1A"/>
                </a:solidFill>
                <a:latin typeface="Calibri" pitchFamily="34" charset="0"/>
                <a:ea typeface="Calibri" pitchFamily="34" charset="-122"/>
                <a:cs typeface="Calibri" pitchFamily="34" charset="-120"/>
              </a:rPr>
              <a:t>More than one million crime incidents were analyzed</a:t>
            </a:r>
            <a:endParaRPr lang="en-US" sz="1500" dirty="0"/>
          </a:p>
        </p:txBody>
      </p:sp>
      <p:sp>
        <p:nvSpPr>
          <p:cNvPr id="7" name="Shape 5"/>
          <p:cNvSpPr/>
          <p:nvPr/>
        </p:nvSpPr>
        <p:spPr>
          <a:xfrm>
            <a:off x="6309360" y="1417320"/>
            <a:ext cx="5349240" cy="1417320"/>
          </a:xfrm>
          <a:prstGeom prst="rect">
            <a:avLst/>
          </a:prstGeom>
          <a:solidFill>
            <a:srgbClr val="F4F4F4"/>
          </a:solidFill>
          <a:ln/>
        </p:spPr>
      </p:sp>
      <p:sp>
        <p:nvSpPr>
          <p:cNvPr id="8" name="Text 6"/>
          <p:cNvSpPr/>
          <p:nvPr/>
        </p:nvSpPr>
        <p:spPr>
          <a:xfrm>
            <a:off x="6629400" y="1417320"/>
            <a:ext cx="4846320" cy="1417320"/>
          </a:xfrm>
          <a:prstGeom prst="rect">
            <a:avLst/>
          </a:prstGeom>
          <a:noFill/>
          <a:ln/>
        </p:spPr>
        <p:txBody>
          <a:bodyPr wrap="square" rtlCol="0" anchor="ctr"/>
          <a:lstStyle/>
          <a:p>
            <a:pPr indent="0" marL="0">
              <a:buNone/>
            </a:pPr>
            <a:r>
              <a:rPr lang="en-US" sz="1500" dirty="0">
                <a:solidFill>
                  <a:srgbClr val="1A1A1A"/>
                </a:solidFill>
                <a:latin typeface="Calibri" pitchFamily="34" charset="0"/>
                <a:ea typeface="Calibri" pitchFamily="34" charset="-122"/>
                <a:cs typeface="Calibri" pitchFamily="34" charset="-120"/>
              </a:rPr>
              <a:t>Vehicle Theft was the most common crime</a:t>
            </a:r>
            <a:endParaRPr lang="en-US" sz="1500" dirty="0"/>
          </a:p>
        </p:txBody>
      </p:sp>
      <p:sp>
        <p:nvSpPr>
          <p:cNvPr id="9" name="Shape 7"/>
          <p:cNvSpPr/>
          <p:nvPr/>
        </p:nvSpPr>
        <p:spPr>
          <a:xfrm>
            <a:off x="640080" y="3154680"/>
            <a:ext cx="5349240" cy="1417320"/>
          </a:xfrm>
          <a:prstGeom prst="rect">
            <a:avLst/>
          </a:prstGeom>
          <a:solidFill>
            <a:srgbClr val="F4F4F4"/>
          </a:solidFill>
          <a:ln/>
        </p:spPr>
      </p:sp>
      <p:sp>
        <p:nvSpPr>
          <p:cNvPr id="10" name="Text 8"/>
          <p:cNvSpPr/>
          <p:nvPr/>
        </p:nvSpPr>
        <p:spPr>
          <a:xfrm>
            <a:off x="960120" y="3154680"/>
            <a:ext cx="4846320" cy="1417320"/>
          </a:xfrm>
          <a:prstGeom prst="rect">
            <a:avLst/>
          </a:prstGeom>
          <a:noFill/>
          <a:ln/>
        </p:spPr>
        <p:txBody>
          <a:bodyPr wrap="square" rtlCol="0" anchor="ctr"/>
          <a:lstStyle/>
          <a:p>
            <a:pPr indent="0" marL="0">
              <a:buNone/>
            </a:pPr>
            <a:r>
              <a:rPr lang="en-US" sz="1500" dirty="0">
                <a:solidFill>
                  <a:srgbClr val="1A1A1A"/>
                </a:solidFill>
                <a:latin typeface="Calibri" pitchFamily="34" charset="0"/>
                <a:ea typeface="Calibri" pitchFamily="34" charset="-122"/>
                <a:cs typeface="Calibri" pitchFamily="34" charset="-120"/>
              </a:rPr>
              <a:t>Central recorded the highest crime rate</a:t>
            </a:r>
            <a:endParaRPr lang="en-US" sz="1500" dirty="0"/>
          </a:p>
        </p:txBody>
      </p:sp>
      <p:sp>
        <p:nvSpPr>
          <p:cNvPr id="11" name="Shape 9"/>
          <p:cNvSpPr/>
          <p:nvPr/>
        </p:nvSpPr>
        <p:spPr>
          <a:xfrm>
            <a:off x="6309360" y="3154680"/>
            <a:ext cx="5349240" cy="1417320"/>
          </a:xfrm>
          <a:prstGeom prst="rect">
            <a:avLst/>
          </a:prstGeom>
          <a:solidFill>
            <a:srgbClr val="F4F4F4"/>
          </a:solidFill>
          <a:ln/>
        </p:spPr>
      </p:sp>
      <p:sp>
        <p:nvSpPr>
          <p:cNvPr id="12" name="Text 10"/>
          <p:cNvSpPr/>
          <p:nvPr/>
        </p:nvSpPr>
        <p:spPr>
          <a:xfrm>
            <a:off x="6629400" y="3154680"/>
            <a:ext cx="4846320" cy="1417320"/>
          </a:xfrm>
          <a:prstGeom prst="rect">
            <a:avLst/>
          </a:prstGeom>
          <a:noFill/>
          <a:ln/>
        </p:spPr>
        <p:txBody>
          <a:bodyPr wrap="square" rtlCol="0" anchor="ctr"/>
          <a:lstStyle/>
          <a:p>
            <a:pPr indent="0" marL="0">
              <a:buNone/>
            </a:pPr>
            <a:r>
              <a:rPr lang="en-US" sz="1500" dirty="0">
                <a:solidFill>
                  <a:srgbClr val="1A1A1A"/>
                </a:solidFill>
                <a:latin typeface="Calibri" pitchFamily="34" charset="0"/>
                <a:ea typeface="Calibri" pitchFamily="34" charset="-122"/>
                <a:cs typeface="Calibri" pitchFamily="34" charset="-120"/>
              </a:rPr>
              <a:t>Crime peaked in 2022</a:t>
            </a:r>
            <a:endParaRPr lang="en-US" sz="1500" dirty="0"/>
          </a:p>
        </p:txBody>
      </p:sp>
      <p:sp>
        <p:nvSpPr>
          <p:cNvPr id="13" name="Shape 11"/>
          <p:cNvSpPr/>
          <p:nvPr/>
        </p:nvSpPr>
        <p:spPr>
          <a:xfrm>
            <a:off x="640080" y="4892040"/>
            <a:ext cx="5349240" cy="1417320"/>
          </a:xfrm>
          <a:prstGeom prst="rect">
            <a:avLst/>
          </a:prstGeom>
          <a:solidFill>
            <a:srgbClr val="F4F4F4"/>
          </a:solidFill>
          <a:ln/>
        </p:spPr>
      </p:sp>
      <p:sp>
        <p:nvSpPr>
          <p:cNvPr id="14" name="Text 12"/>
          <p:cNvSpPr/>
          <p:nvPr/>
        </p:nvSpPr>
        <p:spPr>
          <a:xfrm>
            <a:off x="960120" y="4892040"/>
            <a:ext cx="4846320" cy="1417320"/>
          </a:xfrm>
          <a:prstGeom prst="rect">
            <a:avLst/>
          </a:prstGeom>
          <a:noFill/>
          <a:ln/>
        </p:spPr>
        <p:txBody>
          <a:bodyPr wrap="square" rtlCol="0" anchor="ctr"/>
          <a:lstStyle/>
          <a:p>
            <a:pPr indent="0" marL="0">
              <a:buNone/>
            </a:pPr>
            <a:r>
              <a:rPr lang="en-US" sz="1500" dirty="0">
                <a:solidFill>
                  <a:srgbClr val="1A1A1A"/>
                </a:solidFill>
                <a:latin typeface="Calibri" pitchFamily="34" charset="0"/>
                <a:ea typeface="Calibri" pitchFamily="34" charset="-122"/>
                <a:cs typeface="Calibri" pitchFamily="34" charset="-120"/>
              </a:rPr>
              <a:t>Most crimes occurred at night, and in summer</a:t>
            </a:r>
            <a:endParaRPr lang="en-US" sz="1500" dirty="0"/>
          </a:p>
        </p:txBody>
      </p:sp>
      <p:sp>
        <p:nvSpPr>
          <p:cNvPr id="15" name="Shape 13"/>
          <p:cNvSpPr/>
          <p:nvPr/>
        </p:nvSpPr>
        <p:spPr>
          <a:xfrm>
            <a:off x="6309360" y="4892040"/>
            <a:ext cx="5349240" cy="1417320"/>
          </a:xfrm>
          <a:prstGeom prst="rect">
            <a:avLst/>
          </a:prstGeom>
          <a:solidFill>
            <a:srgbClr val="F4F4F4"/>
          </a:solidFill>
          <a:ln/>
        </p:spPr>
      </p:sp>
      <p:sp>
        <p:nvSpPr>
          <p:cNvPr id="16" name="Text 14"/>
          <p:cNvSpPr/>
          <p:nvPr/>
        </p:nvSpPr>
        <p:spPr>
          <a:xfrm>
            <a:off x="6629400" y="4892040"/>
            <a:ext cx="4846320" cy="1417320"/>
          </a:xfrm>
          <a:prstGeom prst="rect">
            <a:avLst/>
          </a:prstGeom>
          <a:noFill/>
          <a:ln/>
        </p:spPr>
        <p:txBody>
          <a:bodyPr wrap="square" rtlCol="0" anchor="ctr"/>
          <a:lstStyle/>
          <a:p>
            <a:pPr indent="0" marL="0">
              <a:buNone/>
            </a:pPr>
            <a:r>
              <a:rPr lang="en-US" sz="1500" dirty="0">
                <a:solidFill>
                  <a:srgbClr val="1A1A1A"/>
                </a:solidFill>
                <a:latin typeface="Calibri" pitchFamily="34" charset="0"/>
                <a:ea typeface="Calibri" pitchFamily="34" charset="-122"/>
                <a:cs typeface="Calibri" pitchFamily="34" charset="-120"/>
              </a:rPr>
              <a:t>Vehicle-related crimes were common in Central</a:t>
            </a:r>
            <a:endParaRPr lang="en-US" sz="1500" dirty="0"/>
          </a:p>
        </p:txBody>
      </p:sp>
      <p:sp>
        <p:nvSpPr>
          <p:cNvPr id="17" name="Text 15"/>
          <p:cNvSpPr/>
          <p:nvPr/>
        </p:nvSpPr>
        <p:spPr>
          <a:xfrm>
            <a:off x="11475720" y="6446520"/>
            <a:ext cx="457200" cy="320040"/>
          </a:xfrm>
          <a:prstGeom prst="rect">
            <a:avLst/>
          </a:prstGeom>
          <a:noFill/>
          <a:ln/>
        </p:spPr>
        <p:txBody>
          <a:bodyPr wrap="square" rtlCol="0" anchor="ctr"/>
          <a:lstStyle/>
          <a:p>
            <a:pPr algn="r" indent="0" marL="0">
              <a:buNone/>
            </a:pPr>
            <a:r>
              <a:rPr lang="en-US" sz="1000" dirty="0">
                <a:solidFill>
                  <a:srgbClr val="AAAAA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28016"/>
          </a:xfrm>
          <a:prstGeom prst="rect">
            <a:avLst/>
          </a:prstGeom>
          <a:solidFill>
            <a:srgbClr val="8B0000"/>
          </a:solidFill>
          <a:ln/>
        </p:spPr>
      </p:sp>
      <p:sp>
        <p:nvSpPr>
          <p:cNvPr id="3" name="Text 1"/>
          <p:cNvSpPr/>
          <p:nvPr/>
        </p:nvSpPr>
        <p:spPr>
          <a:xfrm>
            <a:off x="640080" y="457200"/>
            <a:ext cx="10881360" cy="64008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Recommendations</a:t>
            </a:r>
            <a:endParaRPr lang="en-US" sz="3200" dirty="0"/>
          </a:p>
        </p:txBody>
      </p:sp>
      <p:sp>
        <p:nvSpPr>
          <p:cNvPr id="4" name="Shape 2"/>
          <p:cNvSpPr/>
          <p:nvPr/>
        </p:nvSpPr>
        <p:spPr>
          <a:xfrm>
            <a:off x="658368" y="1133856"/>
            <a:ext cx="822960" cy="54864"/>
          </a:xfrm>
          <a:prstGeom prst="rect">
            <a:avLst/>
          </a:prstGeom>
          <a:solidFill>
            <a:srgbClr val="8B0000"/>
          </a:solidFill>
          <a:ln/>
        </p:spPr>
      </p:sp>
      <p:sp>
        <p:nvSpPr>
          <p:cNvPr id="5" name="Shape 3"/>
          <p:cNvSpPr/>
          <p:nvPr/>
        </p:nvSpPr>
        <p:spPr>
          <a:xfrm>
            <a:off x="640080" y="1417320"/>
            <a:ext cx="10908792" cy="932688"/>
          </a:xfrm>
          <a:prstGeom prst="rect">
            <a:avLst/>
          </a:prstGeom>
          <a:solidFill>
            <a:srgbClr val="F4F4F4"/>
          </a:solidFill>
          <a:ln/>
        </p:spPr>
      </p:sp>
      <p:sp>
        <p:nvSpPr>
          <p:cNvPr id="6" name="Text 4"/>
          <p:cNvSpPr/>
          <p:nvPr/>
        </p:nvSpPr>
        <p:spPr>
          <a:xfrm>
            <a:off x="868680" y="1417320"/>
            <a:ext cx="822960" cy="932688"/>
          </a:xfrm>
          <a:prstGeom prst="rect">
            <a:avLst/>
          </a:prstGeom>
          <a:noFill/>
          <a:ln/>
        </p:spPr>
        <p:txBody>
          <a:bodyPr wrap="square" rtlCol="0" anchor="ctr"/>
          <a:lstStyle/>
          <a:p>
            <a:pPr indent="0" marL="0">
              <a:buNone/>
            </a:pPr>
            <a:r>
              <a:rPr lang="en-US" sz="2600" b="1" dirty="0">
                <a:solidFill>
                  <a:srgbClr val="8B0000"/>
                </a:solidFill>
                <a:latin typeface="Cambria" pitchFamily="34" charset="0"/>
                <a:ea typeface="Cambria" pitchFamily="34" charset="-122"/>
                <a:cs typeface="Cambria" pitchFamily="34" charset="-120"/>
              </a:rPr>
              <a:t>1</a:t>
            </a:r>
            <a:endParaRPr lang="en-US" sz="2600" dirty="0"/>
          </a:p>
        </p:txBody>
      </p:sp>
      <p:sp>
        <p:nvSpPr>
          <p:cNvPr id="7" name="Text 5"/>
          <p:cNvSpPr/>
          <p:nvPr/>
        </p:nvSpPr>
        <p:spPr>
          <a:xfrm>
            <a:off x="1828800" y="1417320"/>
            <a:ext cx="9509760" cy="932688"/>
          </a:xfrm>
          <a:prstGeom prst="rect">
            <a:avLst/>
          </a:prstGeom>
          <a:noFill/>
          <a:ln/>
        </p:spPr>
        <p:txBody>
          <a:bodyPr wrap="square" rtlCol="0" anchor="ctr"/>
          <a:lstStyle/>
          <a:p>
            <a:pPr indent="0" marL="0">
              <a:buNone/>
            </a:pPr>
            <a:r>
              <a:rPr lang="en-US" sz="1600" dirty="0">
                <a:solidFill>
                  <a:srgbClr val="1A1A1A"/>
                </a:solidFill>
                <a:latin typeface="Calibri" pitchFamily="34" charset="0"/>
                <a:ea typeface="Calibri" pitchFamily="34" charset="-122"/>
                <a:cs typeface="Calibri" pitchFamily="34" charset="-120"/>
              </a:rPr>
              <a:t>Increase police patrols in high-crime areas, especially Central</a:t>
            </a:r>
            <a:endParaRPr lang="en-US" sz="1600" dirty="0"/>
          </a:p>
        </p:txBody>
      </p:sp>
      <p:sp>
        <p:nvSpPr>
          <p:cNvPr id="8" name="Shape 6"/>
          <p:cNvSpPr/>
          <p:nvPr/>
        </p:nvSpPr>
        <p:spPr>
          <a:xfrm>
            <a:off x="640080" y="2532888"/>
            <a:ext cx="10908792" cy="932688"/>
          </a:xfrm>
          <a:prstGeom prst="rect">
            <a:avLst/>
          </a:prstGeom>
          <a:solidFill>
            <a:srgbClr val="F4F4F4"/>
          </a:solidFill>
          <a:ln/>
        </p:spPr>
      </p:sp>
      <p:sp>
        <p:nvSpPr>
          <p:cNvPr id="9" name="Text 7"/>
          <p:cNvSpPr/>
          <p:nvPr/>
        </p:nvSpPr>
        <p:spPr>
          <a:xfrm>
            <a:off x="868680" y="2532888"/>
            <a:ext cx="822960" cy="932688"/>
          </a:xfrm>
          <a:prstGeom prst="rect">
            <a:avLst/>
          </a:prstGeom>
          <a:noFill/>
          <a:ln/>
        </p:spPr>
        <p:txBody>
          <a:bodyPr wrap="square" rtlCol="0" anchor="ctr"/>
          <a:lstStyle/>
          <a:p>
            <a:pPr indent="0" marL="0">
              <a:buNone/>
            </a:pPr>
            <a:r>
              <a:rPr lang="en-US" sz="2600" b="1" dirty="0">
                <a:solidFill>
                  <a:srgbClr val="8B0000"/>
                </a:solidFill>
                <a:latin typeface="Cambria" pitchFamily="34" charset="0"/>
                <a:ea typeface="Cambria" pitchFamily="34" charset="-122"/>
                <a:cs typeface="Cambria" pitchFamily="34" charset="-120"/>
              </a:rPr>
              <a:t>2</a:t>
            </a:r>
            <a:endParaRPr lang="en-US" sz="2600" dirty="0"/>
          </a:p>
        </p:txBody>
      </p:sp>
      <p:sp>
        <p:nvSpPr>
          <p:cNvPr id="10" name="Text 8"/>
          <p:cNvSpPr/>
          <p:nvPr/>
        </p:nvSpPr>
        <p:spPr>
          <a:xfrm>
            <a:off x="1828800" y="2532888"/>
            <a:ext cx="9509760" cy="932688"/>
          </a:xfrm>
          <a:prstGeom prst="rect">
            <a:avLst/>
          </a:prstGeom>
          <a:noFill/>
          <a:ln/>
        </p:spPr>
        <p:txBody>
          <a:bodyPr wrap="square" rtlCol="0" anchor="ctr"/>
          <a:lstStyle/>
          <a:p>
            <a:pPr indent="0" marL="0">
              <a:buNone/>
            </a:pPr>
            <a:r>
              <a:rPr lang="en-US" sz="1600" dirty="0">
                <a:solidFill>
                  <a:srgbClr val="1A1A1A"/>
                </a:solidFill>
                <a:latin typeface="Calibri" pitchFamily="34" charset="0"/>
                <a:ea typeface="Calibri" pitchFamily="34" charset="-122"/>
                <a:cs typeface="Calibri" pitchFamily="34" charset="-120"/>
              </a:rPr>
              <a:t>Improve vehicle theft prevention through public awareness campaigns</a:t>
            </a:r>
            <a:endParaRPr lang="en-US" sz="1600" dirty="0"/>
          </a:p>
        </p:txBody>
      </p:sp>
      <p:sp>
        <p:nvSpPr>
          <p:cNvPr id="11" name="Shape 9"/>
          <p:cNvSpPr/>
          <p:nvPr/>
        </p:nvSpPr>
        <p:spPr>
          <a:xfrm>
            <a:off x="640080" y="3648456"/>
            <a:ext cx="10908792" cy="932688"/>
          </a:xfrm>
          <a:prstGeom prst="rect">
            <a:avLst/>
          </a:prstGeom>
          <a:solidFill>
            <a:srgbClr val="F4F4F4"/>
          </a:solidFill>
          <a:ln/>
        </p:spPr>
      </p:sp>
      <p:sp>
        <p:nvSpPr>
          <p:cNvPr id="12" name="Text 10"/>
          <p:cNvSpPr/>
          <p:nvPr/>
        </p:nvSpPr>
        <p:spPr>
          <a:xfrm>
            <a:off x="868680" y="3648456"/>
            <a:ext cx="822960" cy="932688"/>
          </a:xfrm>
          <a:prstGeom prst="rect">
            <a:avLst/>
          </a:prstGeom>
          <a:noFill/>
          <a:ln/>
        </p:spPr>
        <p:txBody>
          <a:bodyPr wrap="square" rtlCol="0" anchor="ctr"/>
          <a:lstStyle/>
          <a:p>
            <a:pPr indent="0" marL="0">
              <a:buNone/>
            </a:pPr>
            <a:r>
              <a:rPr lang="en-US" sz="2600" b="1" dirty="0">
                <a:solidFill>
                  <a:srgbClr val="8B0000"/>
                </a:solidFill>
                <a:latin typeface="Cambria" pitchFamily="34" charset="0"/>
                <a:ea typeface="Cambria" pitchFamily="34" charset="-122"/>
                <a:cs typeface="Cambria" pitchFamily="34" charset="-120"/>
              </a:rPr>
              <a:t>3</a:t>
            </a:r>
            <a:endParaRPr lang="en-US" sz="2600" dirty="0"/>
          </a:p>
        </p:txBody>
      </p:sp>
      <p:sp>
        <p:nvSpPr>
          <p:cNvPr id="13" name="Text 11"/>
          <p:cNvSpPr/>
          <p:nvPr/>
        </p:nvSpPr>
        <p:spPr>
          <a:xfrm>
            <a:off x="1828800" y="3648456"/>
            <a:ext cx="9509760" cy="932688"/>
          </a:xfrm>
          <a:prstGeom prst="rect">
            <a:avLst/>
          </a:prstGeom>
          <a:noFill/>
          <a:ln/>
        </p:spPr>
        <p:txBody>
          <a:bodyPr wrap="square" rtlCol="0" anchor="ctr"/>
          <a:lstStyle/>
          <a:p>
            <a:pPr indent="0" marL="0">
              <a:buNone/>
            </a:pPr>
            <a:r>
              <a:rPr lang="en-US" sz="1600" dirty="0">
                <a:solidFill>
                  <a:srgbClr val="1A1A1A"/>
                </a:solidFill>
                <a:latin typeface="Calibri" pitchFamily="34" charset="0"/>
                <a:ea typeface="Calibri" pitchFamily="34" charset="-122"/>
                <a:cs typeface="Calibri" pitchFamily="34" charset="-120"/>
              </a:rPr>
              <a:t>Increase police presence during nighttime hours</a:t>
            </a:r>
            <a:endParaRPr lang="en-US" sz="1600" dirty="0"/>
          </a:p>
        </p:txBody>
      </p:sp>
      <p:sp>
        <p:nvSpPr>
          <p:cNvPr id="14" name="Shape 12"/>
          <p:cNvSpPr/>
          <p:nvPr/>
        </p:nvSpPr>
        <p:spPr>
          <a:xfrm>
            <a:off x="640080" y="4764024"/>
            <a:ext cx="10908792" cy="932688"/>
          </a:xfrm>
          <a:prstGeom prst="rect">
            <a:avLst/>
          </a:prstGeom>
          <a:solidFill>
            <a:srgbClr val="F4F4F4"/>
          </a:solidFill>
          <a:ln/>
        </p:spPr>
      </p:sp>
      <p:sp>
        <p:nvSpPr>
          <p:cNvPr id="15" name="Text 13"/>
          <p:cNvSpPr/>
          <p:nvPr/>
        </p:nvSpPr>
        <p:spPr>
          <a:xfrm>
            <a:off x="868680" y="4764024"/>
            <a:ext cx="822960" cy="932688"/>
          </a:xfrm>
          <a:prstGeom prst="rect">
            <a:avLst/>
          </a:prstGeom>
          <a:noFill/>
          <a:ln/>
        </p:spPr>
        <p:txBody>
          <a:bodyPr wrap="square" rtlCol="0" anchor="ctr"/>
          <a:lstStyle/>
          <a:p>
            <a:pPr indent="0" marL="0">
              <a:buNone/>
            </a:pPr>
            <a:r>
              <a:rPr lang="en-US" sz="2600" b="1" dirty="0">
                <a:solidFill>
                  <a:srgbClr val="8B0000"/>
                </a:solidFill>
                <a:latin typeface="Cambria" pitchFamily="34" charset="0"/>
                <a:ea typeface="Cambria" pitchFamily="34" charset="-122"/>
                <a:cs typeface="Cambria" pitchFamily="34" charset="-120"/>
              </a:rPr>
              <a:t>4</a:t>
            </a:r>
            <a:endParaRPr lang="en-US" sz="2600" dirty="0"/>
          </a:p>
        </p:txBody>
      </p:sp>
      <p:sp>
        <p:nvSpPr>
          <p:cNvPr id="16" name="Text 14"/>
          <p:cNvSpPr/>
          <p:nvPr/>
        </p:nvSpPr>
        <p:spPr>
          <a:xfrm>
            <a:off x="1828800" y="4764024"/>
            <a:ext cx="9509760" cy="932688"/>
          </a:xfrm>
          <a:prstGeom prst="rect">
            <a:avLst/>
          </a:prstGeom>
          <a:noFill/>
          <a:ln/>
        </p:spPr>
        <p:txBody>
          <a:bodyPr wrap="square" rtlCol="0" anchor="ctr"/>
          <a:lstStyle/>
          <a:p>
            <a:pPr indent="0" marL="0">
              <a:buNone/>
            </a:pPr>
            <a:r>
              <a:rPr lang="en-US" sz="1600" dirty="0">
                <a:solidFill>
                  <a:srgbClr val="1A1A1A"/>
                </a:solidFill>
                <a:latin typeface="Calibri" pitchFamily="34" charset="0"/>
                <a:ea typeface="Calibri" pitchFamily="34" charset="-122"/>
                <a:cs typeface="Calibri" pitchFamily="34" charset="-120"/>
              </a:rPr>
              <a:t>Continue monitoring crime trends to support future decision-making</a:t>
            </a:r>
            <a:endParaRPr lang="en-US" sz="1600" dirty="0"/>
          </a:p>
        </p:txBody>
      </p:sp>
      <p:sp>
        <p:nvSpPr>
          <p:cNvPr id="17" name="Text 15"/>
          <p:cNvSpPr/>
          <p:nvPr/>
        </p:nvSpPr>
        <p:spPr>
          <a:xfrm>
            <a:off x="640080" y="5925312"/>
            <a:ext cx="10908792" cy="502920"/>
          </a:xfrm>
          <a:prstGeom prst="rect">
            <a:avLst/>
          </a:prstGeom>
          <a:noFill/>
          <a:ln/>
        </p:spPr>
        <p:txBody>
          <a:bodyPr wrap="square" rtlCol="0" anchor="t"/>
          <a:lstStyle/>
          <a:p>
            <a:pPr indent="0" marL="0">
              <a:buNone/>
            </a:pPr>
            <a:r>
              <a:rPr lang="en-US" sz="1150" i="1" dirty="0">
                <a:solidFill>
                  <a:srgbClr val="5A5A5A"/>
                </a:solidFill>
                <a:latin typeface="Calibri" pitchFamily="34" charset="0"/>
                <a:ea typeface="Calibri" pitchFamily="34" charset="-122"/>
                <a:cs typeface="Calibri" pitchFamily="34" charset="-120"/>
              </a:rPr>
              <a:t>Similar strategies — targeted night patrols and vehicle theft-prevention campaigns — are already used in many major U.S. cities, supporting the practicality of these recommendations.</a:t>
            </a:r>
            <a:endParaRPr lang="en-US" sz="1150" dirty="0"/>
          </a:p>
        </p:txBody>
      </p:sp>
      <p:sp>
        <p:nvSpPr>
          <p:cNvPr id="18" name="Text 16"/>
          <p:cNvSpPr/>
          <p:nvPr/>
        </p:nvSpPr>
        <p:spPr>
          <a:xfrm>
            <a:off x="11475720" y="6446520"/>
            <a:ext cx="457200" cy="320040"/>
          </a:xfrm>
          <a:prstGeom prst="rect">
            <a:avLst/>
          </a:prstGeom>
          <a:noFill/>
          <a:ln/>
        </p:spPr>
        <p:txBody>
          <a:bodyPr wrap="square" rtlCol="0" anchor="ctr"/>
          <a:lstStyle/>
          <a:p>
            <a:pPr algn="r" indent="0" marL="0">
              <a:buNone/>
            </a:pPr>
            <a:r>
              <a:rPr lang="en-US" sz="1000" dirty="0">
                <a:solidFill>
                  <a:srgbClr val="AAAAAA"/>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28016"/>
          </a:xfrm>
          <a:prstGeom prst="rect">
            <a:avLst/>
          </a:prstGeom>
          <a:solidFill>
            <a:srgbClr val="8B0000"/>
          </a:solidFill>
          <a:ln/>
        </p:spPr>
      </p:sp>
      <p:sp>
        <p:nvSpPr>
          <p:cNvPr id="3" name="Text 1"/>
          <p:cNvSpPr/>
          <p:nvPr/>
        </p:nvSpPr>
        <p:spPr>
          <a:xfrm>
            <a:off x="640080" y="457200"/>
            <a:ext cx="10881360" cy="64008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Next Steps</a:t>
            </a:r>
            <a:endParaRPr lang="en-US" sz="3200" dirty="0"/>
          </a:p>
        </p:txBody>
      </p:sp>
      <p:sp>
        <p:nvSpPr>
          <p:cNvPr id="4" name="Shape 2"/>
          <p:cNvSpPr/>
          <p:nvPr/>
        </p:nvSpPr>
        <p:spPr>
          <a:xfrm>
            <a:off x="658368" y="1133856"/>
            <a:ext cx="822960" cy="54864"/>
          </a:xfrm>
          <a:prstGeom prst="rect">
            <a:avLst/>
          </a:prstGeom>
          <a:solidFill>
            <a:srgbClr val="8B0000"/>
          </a:solidFill>
          <a:ln/>
        </p:spPr>
      </p:sp>
      <p:sp>
        <p:nvSpPr>
          <p:cNvPr id="5" name="Shape 3"/>
          <p:cNvSpPr/>
          <p:nvPr/>
        </p:nvSpPr>
        <p:spPr>
          <a:xfrm>
            <a:off x="640080" y="1645920"/>
            <a:ext cx="10908792" cy="1051560"/>
          </a:xfrm>
          <a:prstGeom prst="rect">
            <a:avLst/>
          </a:prstGeom>
          <a:solidFill>
            <a:srgbClr val="F4F4F4"/>
          </a:solidFill>
          <a:ln/>
        </p:spPr>
      </p:sp>
      <p:sp>
        <p:nvSpPr>
          <p:cNvPr id="6" name="Text 4"/>
          <p:cNvSpPr/>
          <p:nvPr/>
        </p:nvSpPr>
        <p:spPr>
          <a:xfrm>
            <a:off x="868680" y="1645920"/>
            <a:ext cx="822960" cy="1051560"/>
          </a:xfrm>
          <a:prstGeom prst="rect">
            <a:avLst/>
          </a:prstGeom>
          <a:noFill/>
          <a:ln/>
        </p:spPr>
        <p:txBody>
          <a:bodyPr wrap="square" rtlCol="0" anchor="ctr"/>
          <a:lstStyle/>
          <a:p>
            <a:pPr indent="0" marL="0">
              <a:buNone/>
            </a:pPr>
            <a:r>
              <a:rPr lang="en-US" sz="3000" b="1" dirty="0">
                <a:solidFill>
                  <a:srgbClr val="8B0000"/>
                </a:solidFill>
                <a:latin typeface="Cambria" pitchFamily="34" charset="0"/>
                <a:ea typeface="Cambria" pitchFamily="34" charset="-122"/>
                <a:cs typeface="Cambria" pitchFamily="34" charset="-120"/>
              </a:rPr>
              <a:t>1</a:t>
            </a:r>
            <a:endParaRPr lang="en-US" sz="3000" dirty="0"/>
          </a:p>
        </p:txBody>
      </p:sp>
      <p:sp>
        <p:nvSpPr>
          <p:cNvPr id="7" name="Text 5"/>
          <p:cNvSpPr/>
          <p:nvPr/>
        </p:nvSpPr>
        <p:spPr>
          <a:xfrm>
            <a:off x="1828800" y="1645920"/>
            <a:ext cx="9509760" cy="1051560"/>
          </a:xfrm>
          <a:prstGeom prst="rect">
            <a:avLst/>
          </a:prstGeom>
          <a:noFill/>
          <a:ln/>
        </p:spPr>
        <p:txBody>
          <a:bodyPr wrap="square" rtlCol="0" anchor="ctr"/>
          <a:lstStyle/>
          <a:p>
            <a:pPr indent="0" marL="0">
              <a:buNone/>
            </a:pPr>
            <a:r>
              <a:rPr lang="en-US" sz="1700" dirty="0">
                <a:solidFill>
                  <a:srgbClr val="1A1A1A"/>
                </a:solidFill>
                <a:latin typeface="Calibri" pitchFamily="34" charset="0"/>
                <a:ea typeface="Calibri" pitchFamily="34" charset="-122"/>
                <a:cs typeface="Calibri" pitchFamily="34" charset="-120"/>
              </a:rPr>
              <a:t>Build an interactive Streamlit dashboard for real-time monitoring</a:t>
            </a:r>
            <a:endParaRPr lang="en-US" sz="1700" dirty="0"/>
          </a:p>
        </p:txBody>
      </p:sp>
      <p:sp>
        <p:nvSpPr>
          <p:cNvPr id="8" name="Shape 6"/>
          <p:cNvSpPr/>
          <p:nvPr/>
        </p:nvSpPr>
        <p:spPr>
          <a:xfrm>
            <a:off x="640080" y="2926080"/>
            <a:ext cx="10908792" cy="1051560"/>
          </a:xfrm>
          <a:prstGeom prst="rect">
            <a:avLst/>
          </a:prstGeom>
          <a:solidFill>
            <a:srgbClr val="F4F4F4"/>
          </a:solidFill>
          <a:ln/>
        </p:spPr>
      </p:sp>
      <p:sp>
        <p:nvSpPr>
          <p:cNvPr id="9" name="Text 7"/>
          <p:cNvSpPr/>
          <p:nvPr/>
        </p:nvSpPr>
        <p:spPr>
          <a:xfrm>
            <a:off x="868680" y="2926080"/>
            <a:ext cx="822960" cy="1051560"/>
          </a:xfrm>
          <a:prstGeom prst="rect">
            <a:avLst/>
          </a:prstGeom>
          <a:noFill/>
          <a:ln/>
        </p:spPr>
        <p:txBody>
          <a:bodyPr wrap="square" rtlCol="0" anchor="ctr"/>
          <a:lstStyle/>
          <a:p>
            <a:pPr indent="0" marL="0">
              <a:buNone/>
            </a:pPr>
            <a:r>
              <a:rPr lang="en-US" sz="3000" b="1" dirty="0">
                <a:solidFill>
                  <a:srgbClr val="8B0000"/>
                </a:solidFill>
                <a:latin typeface="Cambria" pitchFamily="34" charset="0"/>
                <a:ea typeface="Cambria" pitchFamily="34" charset="-122"/>
                <a:cs typeface="Cambria" pitchFamily="34" charset="-120"/>
              </a:rPr>
              <a:t>2</a:t>
            </a:r>
            <a:endParaRPr lang="en-US" sz="3000" dirty="0"/>
          </a:p>
        </p:txBody>
      </p:sp>
      <p:sp>
        <p:nvSpPr>
          <p:cNvPr id="10" name="Text 8"/>
          <p:cNvSpPr/>
          <p:nvPr/>
        </p:nvSpPr>
        <p:spPr>
          <a:xfrm>
            <a:off x="1828800" y="2926080"/>
            <a:ext cx="9509760" cy="1051560"/>
          </a:xfrm>
          <a:prstGeom prst="rect">
            <a:avLst/>
          </a:prstGeom>
          <a:noFill/>
          <a:ln/>
        </p:spPr>
        <p:txBody>
          <a:bodyPr wrap="square" rtlCol="0" anchor="ctr"/>
          <a:lstStyle/>
          <a:p>
            <a:pPr indent="0" marL="0">
              <a:buNone/>
            </a:pPr>
            <a:r>
              <a:rPr lang="en-US" sz="1700" dirty="0">
                <a:solidFill>
                  <a:srgbClr val="1A1A1A"/>
                </a:solidFill>
                <a:latin typeface="Calibri" pitchFamily="34" charset="0"/>
                <a:ea typeface="Calibri" pitchFamily="34" charset="-122"/>
                <a:cs typeface="Calibri" pitchFamily="34" charset="-120"/>
              </a:rPr>
              <a:t>Bring in 2025 data as the year becomes fully available</a:t>
            </a:r>
            <a:endParaRPr lang="en-US" sz="1700" dirty="0"/>
          </a:p>
        </p:txBody>
      </p:sp>
      <p:sp>
        <p:nvSpPr>
          <p:cNvPr id="11" name="Shape 9"/>
          <p:cNvSpPr/>
          <p:nvPr/>
        </p:nvSpPr>
        <p:spPr>
          <a:xfrm>
            <a:off x="640080" y="4206240"/>
            <a:ext cx="10908792" cy="1051560"/>
          </a:xfrm>
          <a:prstGeom prst="rect">
            <a:avLst/>
          </a:prstGeom>
          <a:solidFill>
            <a:srgbClr val="F4F4F4"/>
          </a:solidFill>
          <a:ln/>
        </p:spPr>
      </p:sp>
      <p:sp>
        <p:nvSpPr>
          <p:cNvPr id="12" name="Text 10"/>
          <p:cNvSpPr/>
          <p:nvPr/>
        </p:nvSpPr>
        <p:spPr>
          <a:xfrm>
            <a:off x="868680" y="4206240"/>
            <a:ext cx="822960" cy="1051560"/>
          </a:xfrm>
          <a:prstGeom prst="rect">
            <a:avLst/>
          </a:prstGeom>
          <a:noFill/>
          <a:ln/>
        </p:spPr>
        <p:txBody>
          <a:bodyPr wrap="square" rtlCol="0" anchor="ctr"/>
          <a:lstStyle/>
          <a:p>
            <a:pPr indent="0" marL="0">
              <a:buNone/>
            </a:pPr>
            <a:r>
              <a:rPr lang="en-US" sz="3000" b="1" dirty="0">
                <a:solidFill>
                  <a:srgbClr val="8B0000"/>
                </a:solidFill>
                <a:latin typeface="Cambria" pitchFamily="34" charset="0"/>
                <a:ea typeface="Cambria" pitchFamily="34" charset="-122"/>
                <a:cs typeface="Cambria" pitchFamily="34" charset="-120"/>
              </a:rPr>
              <a:t>3</a:t>
            </a:r>
            <a:endParaRPr lang="en-US" sz="3000" dirty="0"/>
          </a:p>
        </p:txBody>
      </p:sp>
      <p:sp>
        <p:nvSpPr>
          <p:cNvPr id="13" name="Text 11"/>
          <p:cNvSpPr/>
          <p:nvPr/>
        </p:nvSpPr>
        <p:spPr>
          <a:xfrm>
            <a:off x="1828800" y="4206240"/>
            <a:ext cx="9509760" cy="1051560"/>
          </a:xfrm>
          <a:prstGeom prst="rect">
            <a:avLst/>
          </a:prstGeom>
          <a:noFill/>
          <a:ln/>
        </p:spPr>
        <p:txBody>
          <a:bodyPr wrap="square" rtlCol="0" anchor="ctr"/>
          <a:lstStyle/>
          <a:p>
            <a:pPr indent="0" marL="0">
              <a:buNone/>
            </a:pPr>
            <a:r>
              <a:rPr lang="en-US" sz="1700" dirty="0">
                <a:solidFill>
                  <a:srgbClr val="1A1A1A"/>
                </a:solidFill>
                <a:latin typeface="Calibri" pitchFamily="34" charset="0"/>
                <a:ea typeface="Calibri" pitchFamily="34" charset="-122"/>
                <a:cs typeface="Calibri" pitchFamily="34" charset="-120"/>
              </a:rPr>
              <a:t>Add demographic and victim data for deeper analysis</a:t>
            </a:r>
            <a:endParaRPr lang="en-US" sz="1700" dirty="0"/>
          </a:p>
        </p:txBody>
      </p:sp>
      <p:sp>
        <p:nvSpPr>
          <p:cNvPr id="14" name="Shape 12"/>
          <p:cNvSpPr/>
          <p:nvPr/>
        </p:nvSpPr>
        <p:spPr>
          <a:xfrm>
            <a:off x="640080" y="5486400"/>
            <a:ext cx="10908792" cy="1051560"/>
          </a:xfrm>
          <a:prstGeom prst="rect">
            <a:avLst/>
          </a:prstGeom>
          <a:solidFill>
            <a:srgbClr val="F4F4F4"/>
          </a:solidFill>
          <a:ln/>
        </p:spPr>
      </p:sp>
      <p:sp>
        <p:nvSpPr>
          <p:cNvPr id="15" name="Text 13"/>
          <p:cNvSpPr/>
          <p:nvPr/>
        </p:nvSpPr>
        <p:spPr>
          <a:xfrm>
            <a:off x="868680" y="5486400"/>
            <a:ext cx="822960" cy="1051560"/>
          </a:xfrm>
          <a:prstGeom prst="rect">
            <a:avLst/>
          </a:prstGeom>
          <a:noFill/>
          <a:ln/>
        </p:spPr>
        <p:txBody>
          <a:bodyPr wrap="square" rtlCol="0" anchor="ctr"/>
          <a:lstStyle/>
          <a:p>
            <a:pPr indent="0" marL="0">
              <a:buNone/>
            </a:pPr>
            <a:r>
              <a:rPr lang="en-US" sz="3000" b="1" dirty="0">
                <a:solidFill>
                  <a:srgbClr val="8B0000"/>
                </a:solidFill>
                <a:latin typeface="Cambria" pitchFamily="34" charset="0"/>
                <a:ea typeface="Cambria" pitchFamily="34" charset="-122"/>
                <a:cs typeface="Cambria" pitchFamily="34" charset="-120"/>
              </a:rPr>
              <a:t>4</a:t>
            </a:r>
            <a:endParaRPr lang="en-US" sz="3000" dirty="0"/>
          </a:p>
        </p:txBody>
      </p:sp>
      <p:sp>
        <p:nvSpPr>
          <p:cNvPr id="16" name="Text 14"/>
          <p:cNvSpPr/>
          <p:nvPr/>
        </p:nvSpPr>
        <p:spPr>
          <a:xfrm>
            <a:off x="1828800" y="5486400"/>
            <a:ext cx="9509760" cy="1051560"/>
          </a:xfrm>
          <a:prstGeom prst="rect">
            <a:avLst/>
          </a:prstGeom>
          <a:noFill/>
          <a:ln/>
        </p:spPr>
        <p:txBody>
          <a:bodyPr wrap="square" rtlCol="0" anchor="ctr"/>
          <a:lstStyle/>
          <a:p>
            <a:pPr indent="0" marL="0">
              <a:buNone/>
            </a:pPr>
            <a:r>
              <a:rPr lang="en-US" sz="1700" dirty="0">
                <a:solidFill>
                  <a:srgbClr val="1A1A1A"/>
                </a:solidFill>
                <a:latin typeface="Calibri" pitchFamily="34" charset="0"/>
                <a:ea typeface="Calibri" pitchFamily="34" charset="-122"/>
                <a:cs typeface="Calibri" pitchFamily="34" charset="-120"/>
              </a:rPr>
              <a:t>Investigate what drives the summer crime spike</a:t>
            </a:r>
            <a:endParaRPr lang="en-US" sz="1700" dirty="0"/>
          </a:p>
        </p:txBody>
      </p:sp>
      <p:sp>
        <p:nvSpPr>
          <p:cNvPr id="17" name="Text 15"/>
          <p:cNvSpPr/>
          <p:nvPr/>
        </p:nvSpPr>
        <p:spPr>
          <a:xfrm>
            <a:off x="11475720" y="6446520"/>
            <a:ext cx="457200" cy="320040"/>
          </a:xfrm>
          <a:prstGeom prst="rect">
            <a:avLst/>
          </a:prstGeom>
          <a:noFill/>
          <a:ln/>
        </p:spPr>
        <p:txBody>
          <a:bodyPr wrap="square" rtlCol="0" anchor="ctr"/>
          <a:lstStyle/>
          <a:p>
            <a:pPr algn="r" indent="0" marL="0">
              <a:buNone/>
            </a:pPr>
            <a:r>
              <a:rPr lang="en-US" sz="1000" dirty="0">
                <a:solidFill>
                  <a:srgbClr val="AAAAAA"/>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8B0000"/>
          </a:solidFill>
          <a:ln/>
        </p:spPr>
      </p:sp>
      <p:sp>
        <p:nvSpPr>
          <p:cNvPr id="3" name="Text 1"/>
          <p:cNvSpPr/>
          <p:nvPr/>
        </p:nvSpPr>
        <p:spPr>
          <a:xfrm>
            <a:off x="1188720" y="960120"/>
            <a:ext cx="9811512" cy="457200"/>
          </a:xfrm>
          <a:prstGeom prst="rect">
            <a:avLst/>
          </a:prstGeom>
          <a:noFill/>
          <a:ln/>
        </p:spPr>
        <p:txBody>
          <a:bodyPr wrap="square" rtlCol="0" anchor="ctr"/>
          <a:lstStyle/>
          <a:p>
            <a:pPr indent="0" marL="0">
              <a:buNone/>
            </a:pPr>
            <a:r>
              <a:rPr lang="en-US" sz="1500" b="1" spc="200" kern="0" dirty="0">
                <a:solidFill>
                  <a:srgbClr val="FFD6D6"/>
                </a:solidFill>
                <a:latin typeface="Calibri" pitchFamily="34" charset="0"/>
                <a:ea typeface="Calibri" pitchFamily="34" charset="-122"/>
                <a:cs typeface="Calibri" pitchFamily="34" charset="-120"/>
              </a:rPr>
              <a:t>CONCLUSION</a:t>
            </a:r>
            <a:endParaRPr lang="en-US" sz="1500" dirty="0"/>
          </a:p>
        </p:txBody>
      </p:sp>
      <p:sp>
        <p:nvSpPr>
          <p:cNvPr id="4" name="Text 2"/>
          <p:cNvSpPr/>
          <p:nvPr/>
        </p:nvSpPr>
        <p:spPr>
          <a:xfrm>
            <a:off x="1188720" y="1508760"/>
            <a:ext cx="9811512" cy="2377440"/>
          </a:xfrm>
          <a:prstGeom prst="rect">
            <a:avLst/>
          </a:prstGeom>
          <a:noFill/>
          <a:ln/>
        </p:spPr>
        <p:txBody>
          <a:bodyPr wrap="square" rtlCol="0" anchor="t"/>
          <a:lstStyle/>
          <a:p>
            <a:pPr marL="342900" indent="-342900">
              <a:spcAft>
                <a:spcPts val="1600"/>
              </a:spcAft>
              <a:buSzPct val="100000"/>
              <a:buChar char="•"/>
            </a:pPr>
            <a:r>
              <a:rPr lang="en-US" sz="2100" dirty="0">
                <a:solidFill>
                  <a:srgbClr val="FFFFFF"/>
                </a:solidFill>
                <a:latin typeface="Cambria" pitchFamily="34" charset="0"/>
                <a:ea typeface="Cambria" pitchFamily="34" charset="-122"/>
                <a:cs typeface="Cambria" pitchFamily="34" charset="-120"/>
              </a:rPr>
              <a:t>EDA can uncover real crime patterns from over a million records</a:t>
            </a:r>
            <a:endParaRPr lang="en-US" sz="2100" dirty="0"/>
          </a:p>
          <a:p>
            <a:pPr marL="342900" indent="-342900">
              <a:spcAft>
                <a:spcPts val="1600"/>
              </a:spcAft>
              <a:buSzPct val="100000"/>
              <a:buChar char="•"/>
            </a:pPr>
            <a:r>
              <a:rPr lang="en-US" sz="2100" dirty="0">
                <a:solidFill>
                  <a:srgbClr val="FFFFFF"/>
                </a:solidFill>
                <a:latin typeface="Cambria" pitchFamily="34" charset="0"/>
                <a:ea typeface="Cambria" pitchFamily="34" charset="-122"/>
                <a:cs typeface="Cambria" pitchFamily="34" charset="-120"/>
              </a:rPr>
              <a:t>Findings point to clear priorities: Central, nighttime, vehicle crime, summer months</a:t>
            </a:r>
            <a:endParaRPr lang="en-US" sz="2100" dirty="0"/>
          </a:p>
          <a:p>
            <a:pPr marL="342900" indent="-342900">
              <a:spcAft>
                <a:spcPts val="1600"/>
              </a:spcAft>
              <a:buSzPct val="100000"/>
              <a:buChar char="•"/>
            </a:pPr>
            <a:r>
              <a:rPr lang="en-US" sz="2100" dirty="0">
                <a:solidFill>
                  <a:srgbClr val="FFFFFF"/>
                </a:solidFill>
                <a:latin typeface="Cambria" pitchFamily="34" charset="0"/>
                <a:ea typeface="Cambria" pitchFamily="34" charset="-122"/>
                <a:cs typeface="Cambria" pitchFamily="34" charset="-120"/>
              </a:rPr>
              <a:t>Data-driven decisions support smarter resource allocation</a:t>
            </a:r>
            <a:endParaRPr lang="en-US" sz="2100" dirty="0"/>
          </a:p>
        </p:txBody>
      </p:sp>
      <p:sp>
        <p:nvSpPr>
          <p:cNvPr id="5" name="Text 3"/>
          <p:cNvSpPr/>
          <p:nvPr/>
        </p:nvSpPr>
        <p:spPr>
          <a:xfrm>
            <a:off x="1188720" y="5074920"/>
            <a:ext cx="5486400" cy="457200"/>
          </a:xfrm>
          <a:prstGeom prst="rect">
            <a:avLst/>
          </a:prstGeom>
          <a:noFill/>
          <a:ln/>
        </p:spPr>
        <p:txBody>
          <a:bodyPr wrap="square" rtlCol="0" anchor="ctr"/>
          <a:lstStyle/>
          <a:p>
            <a:pPr indent="0" marL="0">
              <a:buNone/>
            </a:pPr>
            <a:r>
              <a:rPr lang="en-US" sz="1800" i="1" dirty="0">
                <a:solidFill>
                  <a:srgbClr val="FFD6D6"/>
                </a:solidFill>
                <a:latin typeface="Cambria" pitchFamily="34" charset="0"/>
                <a:ea typeface="Cambria" pitchFamily="34" charset="-122"/>
                <a:cs typeface="Cambria" pitchFamily="34" charset="-120"/>
              </a:rPr>
              <a:t>Thank you</a:t>
            </a:r>
            <a:endParaRPr lang="en-US" sz="1800" dirty="0"/>
          </a:p>
        </p:txBody>
      </p:sp>
      <p:sp>
        <p:nvSpPr>
          <p:cNvPr id="6" name="Text 4">
            <a:hlinkClick r:id="rId1" tooltip="View project on GitHub"/>
          </p:cNvPr>
          <p:cNvSpPr/>
          <p:nvPr/>
        </p:nvSpPr>
        <p:spPr>
          <a:xfrm>
            <a:off x="1188720" y="5577840"/>
            <a:ext cx="5486400" cy="365760"/>
          </a:xfrm>
          <a:prstGeom prst="rect">
            <a:avLst/>
          </a:prstGeom>
          <a:noFill/>
          <a:ln/>
        </p:spPr>
        <p:txBody>
          <a:bodyPr wrap="square" rtlCol="0" anchor="ctr"/>
          <a:lstStyle/>
          <a:p>
            <a:pPr indent="0" marL="0">
              <a:buNone/>
            </a:pPr>
            <a:r>
              <a:rPr lang="en-US" sz="1300" u="sng" dirty="0">
                <a:solidFill>
                  <a:srgbClr val="FFD6D6"/>
                </a:solidFill>
                <a:latin typeface="Calibri" pitchFamily="34" charset="0"/>
                <a:ea typeface="Calibri" pitchFamily="34" charset="-122"/>
                <a:cs typeface="Calibri" pitchFamily="34" charset="-120"/>
                <a:hlinkClick r:id="rId1" invalidUrl="" action="" tgtFrame="" tooltip="View project on GitHub" history="1" highlightClick="0" endSnd="0">
                  <a:extLst>
                    <a:ext uri="{A12FA001-AC4F-418D-AE19-62706E023703}">
                      <ahyp:hlinkClr xmlns:ahyp="http://schemas.microsoft.com/office/drawing/2018/hyperlinkcolor" val="tx"/>
                    </a:ext>
                  </a:extLst>
                </a:hlinkClick>
              </a:rPr>
              <a:t>GitHub Repository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2026-07-13T19:16:24Z</dcterms:created>
  <dcterms:modified xsi:type="dcterms:W3CDTF">2026-07-13T19:16:24Z</dcterms:modified>
</cp:coreProperties>
</file>